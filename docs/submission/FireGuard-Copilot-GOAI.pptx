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FireGuard Copilot 面向工业园区消防风险与警情协同。它把设备火警信号转成有证据的处置建议，但核实与调派始终由人决定。现在展示的不是概念图，而是可运行、可复现、可追溯的产品原型；演示使用合成数据，不连接一一九，也不控制真实设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消防协同真正的瓶颈，往往不是没有信息，而是设备信号、维保记录、建筑档案、预案与站点信息分散在不同地方，只能靠电话和翻页临时拼接。一条火警信号还不是一宗警情，判断前至少要补齐地点、人员、危险源、发展趋势和已采取措施。所以 Agent 的第一项工作是补上下文，而不是抢走指挥权。本页场景来自项目合成数据与消防协同业务流程。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从文字或图片上报开始，先理解意图和缺项，再检索带引用编号的证据，生成尚未生效的核实草稿。只有授权人员确认核实结果和调派决定，流程才会推进；否则系统停下或拒答。完成后，同一事件编号生成指挥台简报、救援站首战信息和企业整改待办，所有动作写入同一时间线。这里的关键边界是：设备信号不等于消防救援警情，人工确认才是业务状态迁移的前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桌面指挥台和手机现场端共用同一事件、同一权限与同一证据链。桌面端适合查看完整态势，手机端提供固定导航、四十八像素操作触点、人工确认和审计包导出；三百九十乘八百四十四视口已经通过自动化验收，没有横向溢出。当前采用响应式 Web，而不是原生 App，这样比赛阶段可以复用一套状态和安全边界。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刻意缩小模型的职责：它只处理意图理解、信息抽取、缺项追问、摘要规划和工具选择。九个工具负责读取信号、场所、维保与站点事实，生成核实和调派草稿，再制作角色简报并写入事件活动。风险评分、业务状态、证据编号、权限检查和最终动作都由确定性代码控制。当前输入支持文字和图片，语音识别尚未接入，也不作已实现声明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条建议必须能够回到工具读取的事实。工具先返回信号、维保、档案或站点信息，再生成稳定的引用编号，最终让建议和证据一起交付，评委可以逐条核对。模型如果虚构证据编号，服务端会拦截并记录；数据缺失时保持“未知”，不会让模型补写。对应的虚构证据拦截已经由自动化测试覆盖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模型的提议要依次通过四层服务端守门：工具白名单、参数结构、业务状态和人工审批。未知工具、非法参数、未核实调派或缺少审批，都会被拒绝，数据库和时间线保持不变，失败调用则保留在工具轨迹中。通过全部守门后，才调用现有领域接口完成状态迁移并写入时间线。模型决定建议什么，服务端决定能不能做，授权人员决定要不要做；十二个守门用例已经覆盖这条边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一次事件会生成三份面向不同岗位的结果：指挥台看到态势、风险、站点建议与调派草稿，救援站收到地址、危险源、入口、水源和首战要点，企业得到处置配合、整改任务与复查闭环。手机端可以一键导出 JSON 审计包，包含输入、工具轨迹、采用与拒绝的证据、人工决策、角色简报和边界声明。同一事件编号贯穿三个岗位，输出与人工动作进入同一时间线。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策展场景验证三种不同结果。疑似误报会比对维保记录并等待人工登记，不直接建立警情；真实警情在现场确认后推荐站点、形成调派草稿，并在二次确认后完成调派和三角色交付；数据不足时列出五项缺口，不猜测，明确安全拒答。评委既可以用 Scenario 模式离线、确定性回放，也可以用 Live 模式调用真实模型，失败时自动回退。这里的行为和百分比来自合成演示夹具，不代表开放场景泛化能力。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技术路线保持克制：原生 HTML、CSS 和 JavaScript 提供响应式工作台，FastAPI 承载领域接口与 Copilot 接口，CopilotEngine 负责编排，ToolGuard 执行四层守门，PostgreSQL 和合成 CSV 保存事件与证据。模型提供方是可选的，当前可通过 OpenAI 兼容协议接入 ModelScope 的 Qwen 系列，三个环境变量即可替换；超时、无效 JSON 或服务不可用都会回退到确定性模板。核心闭环因此不依赖外部模型，当前也没有引入向量库，只有文档规模和检索评测证明需要时才升级。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回归包含四十四项后端自动化测试，覆盖单元、接口和数据库集成，结果是四十四项全部通过。浏览器端跑通误报、真实警情和安全拒答三个完整场景；手机端在三百九十乘八百四十四视口完成确认与审计包导出。当前策展评测中，预期证据覆盖、五项缺项召回和安全守门结果都是百分之百。边界同样写清楚：Live 输出尚未大规模评测，企业数据只有五家合成样本，手机端不是原生 App，语音识别也未接入，因此这些百分比只适用于当前场景与测试集合。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现在已经完成响应式原型、三个场景、四十四项后端测试、桌面与手机端到端验证，以及演示和合规材料。初赛提交包括 PPT、PDF、五百字项目介绍、视频和开源仓库；复赛阶段补齐部署指南、开源许可和扩展评测集，决赛前争取至少一位消防领域专家完成盲评。计划开放合成场景数据集、Agent 工具契约、自动评测脚本和最小运行模板。最后的原则不变：AI 不替代指挥，它的价值是让每一步有证据、有人确认、可复盘；真实部署仍需接入现场系统并通过专业审查。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ireguard-copilot-goai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ireguard-copilot-goai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bd35e0cf7f0ef86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92297746186a599.jpg"/>
  <Relationship Id="rId3" Type="http://schemas.openxmlformats.org/officeDocument/2006/relationships/image" Target="../media/image_5e0bded32779e31c.jp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7b30aaa2ca4e70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0d4010966e5b74a.jpg"/>
  <Relationship Id="rId3" Type="http://schemas.openxmlformats.org/officeDocument/2006/relationships/image" Target="../media/image_5e0bded32779e31c.jp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3985abe482a8fbc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381000" y="685800"/>
            <a:ext cx="3956464" cy="4953000"/>
            <a:chOff x="381000" y="685800"/>
            <a:chExt cx="3956464" cy="4953000"/>
          </a:xfrm>
        </p:grpSpPr>
        <p:sp>
          <p:nvSpPr>
            <p:cNvPr id="2" name="Rectangle 2"/>
            <p:cNvSpPr/>
            <p:nvPr/>
          </p:nvSpPr>
          <p:spPr>
            <a:xfrm>
              <a:off x="381000" y="685800"/>
              <a:ext cx="76200" cy="495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9704" y="975360"/>
              <a:ext cx="3345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GOAI · BOUNDLESS AGENTS · AI+工业制造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6750" y="1607820"/>
              <a:ext cx="367071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FireGuard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2293620"/>
              <a:ext cx="249306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Copilot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5132" y="3183255"/>
              <a:ext cx="2275618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工业园区消防风险与警情协同 Agent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4168140"/>
              <a:ext cx="348157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设备火警信号 → 有证据的处置建议核实与调派，仍由人说了算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619125" y="5191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9254" y="5194935"/>
              <a:ext cx="192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可运行 · 可复现 · 可追溯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53000" y="1066800"/>
            <a:ext cx="6667500" cy="4581906"/>
            <a:chOff x="4953000" y="1066800"/>
            <a:chExt cx="6667500" cy="4581906"/>
          </a:xfrm>
        </p:grpSpPr>
        <p:sp>
          <p:nvSpPr>
            <p:cNvPr id="11" name="Rectangle 11"/>
            <p:cNvSpPr/>
            <p:nvPr/>
          </p:nvSpPr>
          <p:spPr>
            <a:xfrm>
              <a:off x="5143500" y="1200150"/>
              <a:ext cx="6477000" cy="40576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8750" y="1295400"/>
              <a:ext cx="6286500" cy="3929062"/>
            </a:xfrm>
            <a:prstGeom prst="rect">
              <a:avLst/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4953000" y="1066800"/>
              <a:ext cx="11049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81588" y="1179195"/>
              <a:ext cx="9571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RUNNING PROOF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37404" y="541401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727C"/>
                  </a:solidFill>
                  <a:latin typeface="+mn-lt"/>
                  <a:ea typeface="+mn-ea"/>
                  <a:cs typeface="+mn-cs"/>
                </a:rPr>
                <a:t>真实运行截图 · 合成演示数据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6238" y="6000750"/>
            <a:ext cx="11439524" cy="364807"/>
            <a:chOff x="376238" y="6000750"/>
            <a:chExt cx="11439524" cy="364807"/>
          </a:xfrm>
        </p:grpSpPr>
        <p:sp>
          <p:nvSpPr>
            <p:cNvPr id="17" name="Line 17"/>
            <p:cNvSpPr/>
            <p:nvPr/>
          </p:nvSpPr>
          <p:spPr>
            <a:xfrm>
              <a:off x="381000" y="60007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6238" y="6189345"/>
              <a:ext cx="42468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727C"/>
                  </a:solidFill>
                  <a:latin typeface="+mn-lt"/>
                  <a:ea typeface="+mn-ea"/>
                  <a:cs typeface="+mn-cs"/>
                </a:rPr>
                <a:t>合成数据　｜　未连接 119　｜　不控制真实设备　｜　AI 不替代现场指挥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666300" y="6189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SCENE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72787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真正拖慢处置的，是信息分散而非信息缺失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73380" y="1609725"/>
            <a:ext cx="3722370" cy="3514725"/>
            <a:chOff x="373380" y="1609725"/>
            <a:chExt cx="3722370" cy="3514725"/>
          </a:xfrm>
        </p:grpSpPr>
        <p:sp>
          <p:nvSpPr>
            <p:cNvPr id="6" name="TextBox 6"/>
            <p:cNvSpPr txBox="1"/>
            <p:nvPr/>
          </p:nvSpPr>
          <p:spPr>
            <a:xfrm>
              <a:off x="373380" y="160972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四类上下文，分散在不同记录里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038350"/>
              <a:ext cx="3714750" cy="6858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D9DFE3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576769" y="2243681"/>
              <a:ext cx="256151" cy="220068"/>
              <a:chOff x="576769" y="2243681"/>
              <a:chExt cx="256151" cy="22006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04850" y="23241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76769" y="22436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04850" y="24129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21080" y="218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设备信号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604" y="2442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发生了什么、在哪个点位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1000" y="2838450"/>
              <a:ext cx="3714750" cy="685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9DFE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90550" y="3098800"/>
              <a:ext cx="228599" cy="127000"/>
              <a:chOff x="590550" y="3098800"/>
              <a:chExt cx="228599" cy="127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03250" y="3111500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30250" y="31750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66750" y="31115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90550" y="32004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93749" y="30988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21080" y="2981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维保记录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2604" y="32423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近期是否测试、故障或复位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1000" y="3638550"/>
              <a:ext cx="3714750" cy="6858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D9DFE3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03250" y="3848100"/>
              <a:ext cx="203199" cy="228600"/>
              <a:chOff x="603250" y="3848100"/>
              <a:chExt cx="203199" cy="228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03250" y="384810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03250" y="38862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3250" y="39624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21080" y="37814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建筑档案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604" y="40424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危险源、入口、水源与平面图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4438650"/>
              <a:ext cx="3714750" cy="685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9DFE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90550" y="4648200"/>
              <a:ext cx="228599" cy="228599"/>
              <a:chOff x="590550" y="4648200"/>
              <a:chExt cx="228599" cy="22859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90550" y="48259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68349" y="4648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15950" y="46736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21080" y="45815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预案与站点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604" y="48425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谁能到场、首战要注意什么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476750" y="2381250"/>
            <a:ext cx="2857500" cy="2409825"/>
            <a:chOff x="4476750" y="2381250"/>
            <a:chExt cx="2857500" cy="2409825"/>
          </a:xfrm>
        </p:grpSpPr>
        <p:sp>
          <p:nvSpPr>
            <p:cNvPr id="38" name="Line 38"/>
            <p:cNvSpPr/>
            <p:nvPr/>
          </p:nvSpPr>
          <p:spPr>
            <a:xfrm>
              <a:off x="4476750" y="2381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D9DFE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4476750" y="31813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D9DFE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4476750" y="39814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9050">
              <a:solidFill>
                <a:srgbClr val="D9DFE3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4476750" y="47815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D9DFE3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953000" y="2647950"/>
              <a:ext cx="200025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38165" y="29184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当前拼接方式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78101" y="32594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电话 + 翻页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95849" y="3718560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9DFE3"/>
                  </a:solidFill>
                  <a:latin typeface="+mn-lt"/>
                  <a:ea typeface="+mn-ea"/>
                  <a:cs typeface="+mn-cs"/>
                </a:rPr>
                <a:t>慢 · 易漏 · 重复核实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715250" y="1581150"/>
            <a:ext cx="4095750" cy="3810000"/>
            <a:chOff x="7715250" y="1581150"/>
            <a:chExt cx="4095750" cy="3810000"/>
          </a:xfrm>
        </p:grpSpPr>
        <p:sp>
          <p:nvSpPr>
            <p:cNvPr id="47" name="Rectangle 47"/>
            <p:cNvSpPr/>
            <p:nvPr/>
          </p:nvSpPr>
          <p:spPr>
            <a:xfrm>
              <a:off x="7715250" y="1581150"/>
              <a:ext cx="4095750" cy="3810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715250" y="1581150"/>
              <a:ext cx="40957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13954" y="1965960"/>
              <a:ext cx="2440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ONE EVENT / MANY UNKNOWNS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09382" y="2383155"/>
              <a:ext cx="1981581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一条火警信号还不是一宗警情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020050" y="327660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12430" y="34956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判断前必须补齐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12430" y="3895725"/>
              <a:ext cx="1920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地点　人员　危险源发展趋势　已采取措施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020050" y="4762500"/>
              <a:ext cx="310515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66354" y="4871085"/>
              <a:ext cx="3451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Agent 的第一任务：补上下文，不是抢指挥权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76238" y="6115050"/>
            <a:ext cx="11439524" cy="345757"/>
            <a:chOff x="376238" y="6115050"/>
            <a:chExt cx="11439524" cy="345757"/>
          </a:xfrm>
        </p:grpSpPr>
        <p:sp>
          <p:nvSpPr>
            <p:cNvPr id="57" name="Line 57"/>
            <p:cNvSpPr/>
            <p:nvPr/>
          </p:nvSpPr>
          <p:spPr>
            <a:xfrm>
              <a:off x="381000" y="61150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76238" y="6284595"/>
              <a:ext cx="2432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场景来源：项目合成数据与消防协同业务流程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666300" y="6284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62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CLOSED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74959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 Agent 串起证据，但把最终决定留给人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57250" y="1581150"/>
            <a:ext cx="10477500" cy="1619250"/>
            <a:chOff x="857250" y="1581150"/>
            <a:chExt cx="10477500" cy="1619250"/>
          </a:xfrm>
        </p:grpSpPr>
        <p:sp>
          <p:nvSpPr>
            <p:cNvPr id="6" name="Line 6"/>
            <p:cNvSpPr/>
            <p:nvPr/>
          </p:nvSpPr>
          <p:spPr>
            <a:xfrm>
              <a:off x="857250" y="2181225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38100">
              <a:solidFill>
                <a:srgbClr val="D9DFE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581775" y="158115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27512" y="1857375"/>
            <a:ext cx="1107176" cy="1219581"/>
            <a:chOff x="627512" y="1857375"/>
            <a:chExt cx="1107176" cy="1219581"/>
          </a:xfrm>
        </p:grpSpPr>
        <p:sp>
          <p:nvSpPr>
            <p:cNvPr id="9" name="Ellipse 9"/>
            <p:cNvSpPr/>
            <p:nvPr/>
          </p:nvSpPr>
          <p:spPr>
            <a:xfrm>
              <a:off x="857250" y="1857375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6865" y="20955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7512" y="2562225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信号 + 上报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9028" y="28422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文字 / 图片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167414" y="1857375"/>
            <a:ext cx="1075372" cy="1219581"/>
            <a:chOff x="2167414" y="1857375"/>
            <a:chExt cx="1075372" cy="1219581"/>
          </a:xfrm>
        </p:grpSpPr>
        <p:sp>
          <p:nvSpPr>
            <p:cNvPr id="14" name="Ellipse 14"/>
            <p:cNvSpPr/>
            <p:nvPr/>
          </p:nvSpPr>
          <p:spPr>
            <a:xfrm>
              <a:off x="2381250" y="1857375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605088" y="2038350"/>
              <a:ext cx="200024" cy="271463"/>
              <a:chOff x="2605088" y="2038350"/>
              <a:chExt cx="200024" cy="27146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619375" y="2066925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85725"/>
                    </a:lnTo>
                    <a:cubicBezTo>
                      <a:pt x="171450" y="101507"/>
                      <a:pt x="158657" y="114300"/>
                      <a:pt x="14287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705100" y="203835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62238" y="2181225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747962" y="2181225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605088" y="2209800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747962" y="2209800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0"/>
                    </a:moveTo>
                    <a:lnTo>
                      <a:pt x="5715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662238" y="22669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676525" y="2124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733675" y="2124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2167414" y="2562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理解与缺项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83028" y="28422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追问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797427" y="1857375"/>
            <a:ext cx="863346" cy="1219581"/>
            <a:chOff x="3797427" y="1857375"/>
            <a:chExt cx="863346" cy="1219581"/>
          </a:xfrm>
        </p:grpSpPr>
        <p:sp>
          <p:nvSpPr>
            <p:cNvPr id="28" name="Ellipse 28"/>
            <p:cNvSpPr/>
            <p:nvPr/>
          </p:nvSpPr>
          <p:spPr>
            <a:xfrm>
              <a:off x="3905250" y="1857375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129088" y="2052638"/>
              <a:ext cx="228600" cy="271462"/>
              <a:chOff x="4129088" y="2052638"/>
              <a:chExt cx="228600" cy="2714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257675" y="20526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129088" y="2052638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00012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135731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257675" y="222408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321969" y="2288381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0" y="0"/>
                    </a:moveTo>
                    <a:lnTo>
                      <a:pt x="35719" y="35719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3797427" y="2562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证据检索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23183" y="28422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记录带 ref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73802" y="1857375"/>
            <a:ext cx="863346" cy="1219581"/>
            <a:chOff x="5273802" y="1857375"/>
            <a:chExt cx="863346" cy="1219581"/>
          </a:xfrm>
        </p:grpSpPr>
        <p:sp>
          <p:nvSpPr>
            <p:cNvPr id="37" name="Ellipse 37"/>
            <p:cNvSpPr/>
            <p:nvPr/>
          </p:nvSpPr>
          <p:spPr>
            <a:xfrm>
              <a:off x="5381625" y="1857375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81240" y="20955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73802" y="2562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核实草稿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76291" y="2842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尚未生效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515100" y="1428750"/>
            <a:ext cx="1428750" cy="1771650"/>
            <a:chOff x="6515100" y="1428750"/>
            <a:chExt cx="1428750" cy="1771650"/>
          </a:xfrm>
        </p:grpSpPr>
        <p:sp>
          <p:nvSpPr>
            <p:cNvPr id="42" name="Rectangle 42"/>
            <p:cNvSpPr/>
            <p:nvPr/>
          </p:nvSpPr>
          <p:spPr>
            <a:xfrm>
              <a:off x="6515100" y="1428750"/>
              <a:ext cx="1428750" cy="1771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081606" y="1719262"/>
              <a:ext cx="279010" cy="257176"/>
              <a:chOff x="7081606" y="1719262"/>
              <a:chExt cx="279010" cy="25717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081606" y="171926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72338" y="19192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97802" y="218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人工确认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0291" y="2518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核实结果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0291" y="2766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调派下达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358664" y="1857375"/>
            <a:ext cx="1075372" cy="1219581"/>
            <a:chOff x="8358664" y="1857375"/>
            <a:chExt cx="1075372" cy="1219581"/>
          </a:xfrm>
        </p:grpSpPr>
        <p:sp>
          <p:nvSpPr>
            <p:cNvPr id="50" name="Ellipse 50"/>
            <p:cNvSpPr/>
            <p:nvPr/>
          </p:nvSpPr>
          <p:spPr>
            <a:xfrm>
              <a:off x="8572500" y="1857375"/>
              <a:ext cx="647700" cy="64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72115" y="20955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58664" y="2562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推进或停下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74278" y="28422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调派 / 拒答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168414" y="1857375"/>
            <a:ext cx="1075372" cy="1219581"/>
            <a:chOff x="10168414" y="1857375"/>
            <a:chExt cx="1075372" cy="1219581"/>
          </a:xfrm>
        </p:grpSpPr>
        <p:sp>
          <p:nvSpPr>
            <p:cNvPr id="55" name="Ellipse 55"/>
            <p:cNvSpPr/>
            <p:nvPr/>
          </p:nvSpPr>
          <p:spPr>
            <a:xfrm>
              <a:off x="10382250" y="1857375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581865" y="20955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68414" y="2562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三角色交付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15372" y="2842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同一事件编号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62000" y="3790950"/>
            <a:ext cx="10668000" cy="1781556"/>
            <a:chOff x="762000" y="3790950"/>
            <a:chExt cx="10668000" cy="1781556"/>
          </a:xfrm>
        </p:grpSpPr>
        <p:sp>
          <p:nvSpPr>
            <p:cNvPr id="60" name="Line 60"/>
            <p:cNvSpPr/>
            <p:nvPr/>
          </p:nvSpPr>
          <p:spPr>
            <a:xfrm>
              <a:off x="762000" y="3790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62000" y="4038600"/>
              <a:ext cx="323850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1028700" y="4318000"/>
              <a:ext cx="228599" cy="212724"/>
              <a:chOff x="1028700" y="4318000"/>
              <a:chExt cx="228599" cy="212724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028700" y="431800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215899" y="0"/>
                    </a:lnTo>
                    <a:cubicBezTo>
                      <a:pt x="222913" y="0"/>
                      <a:pt x="228599" y="5686"/>
                      <a:pt x="228599" y="12700"/>
                    </a:cubicBezTo>
                    <a:lnTo>
                      <a:pt x="228599" y="139700"/>
                    </a:lnTo>
                    <a:cubicBezTo>
                      <a:pt x="228599" y="146714"/>
                      <a:pt x="222913" y="152400"/>
                      <a:pt x="215899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079500" y="4521199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104900" y="4470399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181100" y="4470399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459230" y="42767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指挥台简报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84504" y="47282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态势、风险、调派草稿与时间线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476750" y="4038600"/>
              <a:ext cx="3238500" cy="11049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9DFE3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4743450" y="4305300"/>
              <a:ext cx="228599" cy="228599"/>
              <a:chOff x="4743450" y="4305300"/>
              <a:chExt cx="228599" cy="228599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4743450" y="44830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921249" y="4305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4768850" y="43307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5173980" y="42767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救援站首战信息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99254" y="47282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地址、危险源、入口、水源与要点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191500" y="4038600"/>
              <a:ext cx="323850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8458200" y="4356100"/>
              <a:ext cx="228599" cy="127000"/>
              <a:chOff x="8458200" y="4356100"/>
              <a:chExt cx="228599" cy="1270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470900" y="4368800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5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597900" y="44323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5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534400" y="43688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5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458200" y="4457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5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661399" y="43561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5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8888730" y="42767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企业整改待办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414004" y="47282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处置配合、整改任务与复查闭环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987366" y="533781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所有动作写入同一事件时间线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76238" y="6115050"/>
            <a:ext cx="11439524" cy="345757"/>
            <a:chOff x="376238" y="6115050"/>
            <a:chExt cx="11439524" cy="345757"/>
          </a:xfrm>
        </p:grpSpPr>
        <p:sp>
          <p:nvSpPr>
            <p:cNvPr id="87" name="Line 87"/>
            <p:cNvSpPr/>
            <p:nvPr/>
          </p:nvSpPr>
          <p:spPr>
            <a:xfrm>
              <a:off x="381000" y="61150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76238" y="6284595"/>
              <a:ext cx="34201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设备火警信号 ≠ 消防救援警情；人工确认是业务状态迁移的前提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666300" y="6284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41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PRODUCT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902927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一套响应式 Web，同时服务桌面指挥与手机现场确认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524000"/>
            <a:ext cx="7239000" cy="4286250"/>
            <a:chOff x="381000" y="1524000"/>
            <a:chExt cx="7239000" cy="4286250"/>
          </a:xfrm>
        </p:grpSpPr>
        <p:sp>
          <p:nvSpPr>
            <p:cNvPr id="6" name="Rectangle 6"/>
            <p:cNvSpPr/>
            <p:nvPr/>
          </p:nvSpPr>
          <p:spPr>
            <a:xfrm>
              <a:off x="381000" y="1524000"/>
              <a:ext cx="7239000" cy="4286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524000"/>
              <a:ext cx="6858000" cy="42862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381000" y="1524000"/>
              <a:ext cx="14478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19112" y="1622425"/>
              <a:ext cx="142875" cy="136525"/>
              <a:chOff x="519112" y="1622425"/>
              <a:chExt cx="142875" cy="1365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19112" y="16224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7937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134937" y="0"/>
                    </a:lnTo>
                    <a:cubicBezTo>
                      <a:pt x="139321" y="0"/>
                      <a:pt x="142875" y="3554"/>
                      <a:pt x="142875" y="7937"/>
                    </a:cubicBezTo>
                    <a:lnTo>
                      <a:pt x="142875" y="87312"/>
                    </a:lnTo>
                    <a:cubicBezTo>
                      <a:pt x="142875" y="91696"/>
                      <a:pt x="139321" y="95250"/>
                      <a:pt x="134937" y="95250"/>
                    </a:cubicBezTo>
                    <a:lnTo>
                      <a:pt x="7937" y="95250"/>
                    </a:lnTo>
                    <a:cubicBezTo>
                      <a:pt x="3554" y="95250"/>
                      <a:pt x="0" y="91696"/>
                      <a:pt x="0" y="8731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50862" y="1749425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66737" y="17176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14362" y="17176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6288" y="1645920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桌面指挥台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53375" y="2190750"/>
            <a:ext cx="1143000" cy="2571750"/>
            <a:chOff x="7953375" y="2190750"/>
            <a:chExt cx="1143000" cy="2571750"/>
          </a:xfrm>
        </p:grpSpPr>
        <p:sp>
          <p:nvSpPr>
            <p:cNvPr id="16" name="Line 16"/>
            <p:cNvSpPr/>
            <p:nvPr/>
          </p:nvSpPr>
          <p:spPr>
            <a:xfrm>
              <a:off x="7953375" y="2190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24875" y="2190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9DFE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48675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448675" y="3467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448675" y="4229100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79537" y="2975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同一事件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79537" y="3737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同一权限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94726" y="44996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同一证据链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29750" y="1371600"/>
            <a:ext cx="2381250" cy="4562856"/>
            <a:chOff x="9429750" y="1371600"/>
            <a:chExt cx="2381250" cy="4562856"/>
          </a:xfrm>
        </p:grpSpPr>
        <p:sp>
          <p:nvSpPr>
            <p:cNvPr id="25" name="Rectangle 25"/>
            <p:cNvSpPr/>
            <p:nvPr/>
          </p:nvSpPr>
          <p:spPr>
            <a:xfrm>
              <a:off x="9429750" y="1371600"/>
              <a:ext cx="2381250" cy="45529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7500" y="1562100"/>
              <a:ext cx="1143000" cy="4264342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9429750" y="1371600"/>
              <a:ext cx="1352550" cy="323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9591675" y="1462087"/>
              <a:ext cx="95250" cy="142875"/>
              <a:chOff x="9591675" y="1462087"/>
              <a:chExt cx="95250" cy="14287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591675" y="1462087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2" y="0"/>
                      <a:pt x="95250" y="7107"/>
                      <a:pt x="95250" y="15875"/>
                    </a:cubicBezTo>
                    <a:lnTo>
                      <a:pt x="95250" y="127000"/>
                    </a:lnTo>
                    <a:cubicBezTo>
                      <a:pt x="95250" y="135767"/>
                      <a:pt x="88142" y="142875"/>
                      <a:pt x="79375" y="142875"/>
                    </a:cubicBezTo>
                    <a:lnTo>
                      <a:pt x="15875" y="142875"/>
                    </a:lnTo>
                    <a:cubicBezTo>
                      <a:pt x="7107" y="142875"/>
                      <a:pt x="0" y="135767"/>
                      <a:pt x="0" y="127000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631362" y="147002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639300" y="15732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825038" y="1493520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手机现场确认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5104" y="5185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固定导航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95104" y="5452110"/>
              <a:ext cx="1002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48px 操作触点审计包导出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4904" y="5966460"/>
            <a:ext cx="6078230" cy="234696"/>
            <a:chOff x="374904" y="5966460"/>
            <a:chExt cx="6078230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374904" y="5966460"/>
              <a:ext cx="6078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当前手机端是响应式 Web，不是原生 App；比赛阶段复用同一状态与安全边界。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6238" y="6475095"/>
            <a:ext cx="11439524" cy="176212"/>
            <a:chOff x="376238" y="6475095"/>
            <a:chExt cx="11439524" cy="176212"/>
          </a:xfrm>
        </p:grpSpPr>
        <p:sp>
          <p:nvSpPr>
            <p:cNvPr id="38" name="TextBox 38"/>
            <p:cNvSpPr txBox="1"/>
            <p:nvPr/>
          </p:nvSpPr>
          <p:spPr>
            <a:xfrm>
              <a:off x="376238" y="6475095"/>
              <a:ext cx="26931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手机视口：390×844 自动化验收通过，无横向溢出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666300" y="64750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786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AGENT CONTRACT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880532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模型只做非确定性工作，九个工具负责落到业务事实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81000" y="1504950"/>
            <a:ext cx="3333750" cy="4343400"/>
            <a:chOff x="381000" y="1504950"/>
            <a:chExt cx="3333750" cy="4343400"/>
          </a:xfrm>
        </p:grpSpPr>
        <p:sp>
          <p:nvSpPr>
            <p:cNvPr id="6" name="Rectangle 6"/>
            <p:cNvSpPr/>
            <p:nvPr/>
          </p:nvSpPr>
          <p:spPr>
            <a:xfrm>
              <a:off x="381000" y="1504950"/>
              <a:ext cx="3333750" cy="43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27075" y="1822450"/>
              <a:ext cx="222250" cy="301625"/>
              <a:chOff x="727075" y="1822450"/>
              <a:chExt cx="222250" cy="3016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42950" y="185420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38200" y="18224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90575" y="19812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85825" y="19812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27075" y="201295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5825" y="201295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0575" y="207645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6450" y="1917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69950" y="1917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89482" y="18307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模型负责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7700" y="236220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080" y="26193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　意图理解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0080" y="31146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　信息抽取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080" y="36099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　缺项追问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0080" y="4105275"/>
              <a:ext cx="1520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　摘要与规划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0080" y="46005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　工具选择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604" y="5299710"/>
              <a:ext cx="2298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D9DFE3"/>
                  </a:solidFill>
                  <a:latin typeface="+mn-lt"/>
                  <a:ea typeface="+mn-ea"/>
                  <a:cs typeface="+mn-cs"/>
                </a:rPr>
                <a:t>输入：文字 + 图片语音识别未接入，不作已实现声明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095750" y="1504950"/>
            <a:ext cx="2381250" cy="3162300"/>
            <a:chOff x="4095750" y="1504950"/>
            <a:chExt cx="2381250" cy="3162300"/>
          </a:xfrm>
        </p:grpSpPr>
        <p:sp>
          <p:nvSpPr>
            <p:cNvPr id="26" name="Rectangle 26"/>
            <p:cNvSpPr/>
            <p:nvPr/>
          </p:nvSpPr>
          <p:spPr>
            <a:xfrm>
              <a:off x="4095750" y="1504950"/>
              <a:ext cx="2381250" cy="3162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D9DFE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16730" y="16859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读取与补全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18254" y="2137410"/>
              <a:ext cx="1606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get_signal_context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18254" y="257556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get_site_packet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18254" y="3013710"/>
              <a:ext cx="21494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get_maintenance_context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18254" y="3451860"/>
              <a:ext cx="1606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find_missing_fields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18254" y="3890010"/>
              <a:ext cx="1623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recommend_station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18254" y="427101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均返回结构化事实与证据 ref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67500" y="1504950"/>
            <a:ext cx="2439772" cy="3162300"/>
            <a:chOff x="6667500" y="1504950"/>
            <a:chExt cx="2439772" cy="3162300"/>
          </a:xfrm>
        </p:grpSpPr>
        <p:sp>
          <p:nvSpPr>
            <p:cNvPr id="35" name="Rectangle 35"/>
            <p:cNvSpPr/>
            <p:nvPr/>
          </p:nvSpPr>
          <p:spPr>
            <a:xfrm>
              <a:off x="6667500" y="1504950"/>
              <a:ext cx="2381250" cy="31623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9DFE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88480" y="16859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草稿与建议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0004" y="22707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create_verification_draft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0004" y="2918460"/>
              <a:ext cx="192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create_dispatch_draft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896100" y="3390900"/>
              <a:ext cx="1924050" cy="9525"/>
            </a:xfrm>
            <a:custGeom>
              <a:avLst/>
              <a:gdLst/>
              <a:ahLst/>
              <a:cxnLst/>
              <a:rect l="l" t="t" r="r" b="b"/>
              <a:pathLst>
                <a:path w="1924050" h="9525">
                  <a:moveTo>
                    <a:pt x="0" y="0"/>
                  </a:moveTo>
                  <a:lnTo>
                    <a:pt x="19240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0004" y="3623310"/>
              <a:ext cx="15361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只生成草稿不会自动改变业务状态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239250" y="1504950"/>
            <a:ext cx="2571750" cy="3162300"/>
            <a:chOff x="9239250" y="1504950"/>
            <a:chExt cx="2571750" cy="3162300"/>
          </a:xfrm>
        </p:grpSpPr>
        <p:sp>
          <p:nvSpPr>
            <p:cNvPr id="42" name="Rectangle 42"/>
            <p:cNvSpPr/>
            <p:nvPr/>
          </p:nvSpPr>
          <p:spPr>
            <a:xfrm>
              <a:off x="9239250" y="1504950"/>
              <a:ext cx="2571750" cy="3162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D9DFE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60230" y="16859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交付与留痕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61754" y="2270760"/>
              <a:ext cx="1335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build_role_brief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1754" y="2918460"/>
              <a:ext cx="2081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append_incident_activity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467850" y="33909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61754" y="3623310"/>
              <a:ext cx="15361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生成角色摘要审批后才允许写时间线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095750" y="4953000"/>
            <a:ext cx="7715250" cy="895350"/>
            <a:chOff x="4095750" y="4953000"/>
            <a:chExt cx="7715250" cy="895350"/>
          </a:xfrm>
        </p:grpSpPr>
        <p:sp>
          <p:nvSpPr>
            <p:cNvPr id="49" name="Rectangle 49"/>
            <p:cNvSpPr/>
            <p:nvPr/>
          </p:nvSpPr>
          <p:spPr>
            <a:xfrm>
              <a:off x="4095750" y="4953000"/>
              <a:ext cx="771525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347931" y="5233988"/>
              <a:ext cx="279010" cy="257174"/>
              <a:chOff x="4347931" y="5233988"/>
              <a:chExt cx="279010" cy="25717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347931" y="5233988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538662" y="543401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4850130" y="51339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确定性代码负责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51654" y="547116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风险评分　业务状态　证据编号　权限检查　最终动作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76238" y="6303645"/>
            <a:ext cx="11439524" cy="176212"/>
            <a:chOff x="376238" y="6303645"/>
            <a:chExt cx="11439524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376238" y="6303645"/>
              <a:ext cx="35077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 Agent + 确定性工具层；不引入多 Agent 对话和通用编排框架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666300" y="63036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171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EVIDENCE-TO-ACTION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80801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每条建议都能回到证据，无来源时就回答“未知”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73380" y="1647825"/>
            <a:ext cx="3341370" cy="3990975"/>
            <a:chOff x="373380" y="1647825"/>
            <a:chExt cx="3341370" cy="3990975"/>
          </a:xfrm>
        </p:grpSpPr>
        <p:sp>
          <p:nvSpPr>
            <p:cNvPr id="6" name="TextBox 6"/>
            <p:cNvSpPr txBox="1"/>
            <p:nvPr/>
          </p:nvSpPr>
          <p:spPr>
            <a:xfrm>
              <a:off x="373380" y="16478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证据编号只来自工具返回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66750" y="2209800"/>
              <a:ext cx="9525" cy="2038350"/>
            </a:xfrm>
            <a:custGeom>
              <a:avLst/>
              <a:gdLst/>
              <a:ahLst/>
              <a:cxnLst/>
              <a:rect l="l" t="t" r="r" b="b"/>
              <a:pathLst>
                <a:path w="9525" h="2038350">
                  <a:moveTo>
                    <a:pt x="0" y="0"/>
                  </a:moveTo>
                  <a:lnTo>
                    <a:pt x="0" y="2038350"/>
                  </a:lnTo>
                </a:path>
              </a:pathLst>
            </a:custGeom>
            <a:noFill/>
            <a:ln w="28575">
              <a:solidFill>
                <a:srgbClr val="D9DFE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457200" y="20955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14008" y="22421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9180" y="21050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工具读取事实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0704" y="2423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信号、维保、档案、站点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7200" y="29908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4008" y="3137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180" y="3000375"/>
              <a:ext cx="12767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生成稳定 ref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0704" y="33185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建议引用具体记录编号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57200" y="3886200"/>
              <a:ext cx="419100" cy="419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4008" y="4032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9180" y="38957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建议与证据一起交付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704" y="42138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评委可逐条核对来源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1000" y="4762500"/>
              <a:ext cx="3333750" cy="8763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2930" y="4943475"/>
              <a:ext cx="2167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虚构编号 → 拦截并记录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4454" y="528066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数据缺失保持“未知”，不让模型补写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095750" y="1543050"/>
            <a:ext cx="7715250" cy="4498181"/>
            <a:chOff x="4095750" y="1543050"/>
            <a:chExt cx="7715250" cy="4498181"/>
          </a:xfrm>
        </p:grpSpPr>
        <p:sp>
          <p:nvSpPr>
            <p:cNvPr id="24" name="Rectangle 24"/>
            <p:cNvSpPr/>
            <p:nvPr/>
          </p:nvSpPr>
          <p:spPr>
            <a:xfrm>
              <a:off x="4095750" y="1543050"/>
              <a:ext cx="7715250" cy="44386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0550" y="1600200"/>
              <a:ext cx="7105650" cy="4441031"/>
            </a:xfrm>
            <a:prstGeom prst="rect">
              <a:avLst/>
            </a:prstGeom>
          </p:spPr>
        </p:pic>
        <p:sp>
          <p:nvSpPr>
            <p:cNvPr id="26" name="Rectangle 26"/>
            <p:cNvSpPr/>
            <p:nvPr/>
          </p:nvSpPr>
          <p:spPr>
            <a:xfrm>
              <a:off x="9258300" y="2381250"/>
              <a:ext cx="1924050" cy="26289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972550" y="23812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62340" y="21945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证据区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95750" y="1543050"/>
              <a:ext cx="13525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249737" y="1633537"/>
              <a:ext cx="127001" cy="150813"/>
              <a:chOff x="4249737" y="1633537"/>
              <a:chExt cx="127001" cy="15081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321175" y="1633537"/>
                <a:ext cx="39687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39687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7"/>
                      <a:pt x="7937" y="39687"/>
                    </a:cubicBezTo>
                    <a:lnTo>
                      <a:pt x="39687" y="39687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249737" y="1633537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2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7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7" y="0"/>
                    </a:lnTo>
                    <a:lnTo>
                      <a:pt x="111125" y="39687"/>
                    </a:lnTo>
                    <a:lnTo>
                      <a:pt x="111125" y="75406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321175" y="1728787"/>
                <a:ext cx="39687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39687">
                    <a:moveTo>
                      <a:pt x="0" y="19844"/>
                    </a:moveTo>
                    <a:cubicBezTo>
                      <a:pt x="0" y="30803"/>
                      <a:pt x="8884" y="39687"/>
                      <a:pt x="19844" y="39687"/>
                    </a:cubicBezTo>
                    <a:cubicBezTo>
                      <a:pt x="30803" y="39687"/>
                      <a:pt x="39687" y="30803"/>
                      <a:pt x="39687" y="19844"/>
                    </a:cubicBezTo>
                    <a:cubicBezTo>
                      <a:pt x="39687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356894" y="1764506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491038" y="1664970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真实运行轨迹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76238" y="6303645"/>
            <a:ext cx="11439524" cy="176212"/>
            <a:chOff x="376238" y="6303645"/>
            <a:chExt cx="11439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376238" y="6303645"/>
              <a:ext cx="36018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虚构证据拦截测试：test_model_invented_evidence_is_dropped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666300" y="63036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521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PERMISSION-GATED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77367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四层服务端守门，把“建议”与“生效”彻底分开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66750" y="2505075"/>
            <a:ext cx="10858500" cy="9525"/>
            <a:chOff x="666750" y="2505075"/>
            <a:chExt cx="10858500" cy="9525"/>
          </a:xfrm>
        </p:grpSpPr>
        <p:sp>
          <p:nvSpPr>
            <p:cNvPr id="6" name="Line 6"/>
            <p:cNvSpPr/>
            <p:nvPr/>
          </p:nvSpPr>
          <p:spPr>
            <a:xfrm>
              <a:off x="666750" y="250507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38100">
              <a:solidFill>
                <a:srgbClr val="D9DFE3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23875" y="2028825"/>
            <a:ext cx="952500" cy="1219581"/>
            <a:chOff x="523875" y="2028825"/>
            <a:chExt cx="952500" cy="1219581"/>
          </a:xfrm>
        </p:grpSpPr>
        <p:sp>
          <p:nvSpPr>
            <p:cNvPr id="8" name="Ellipse 8"/>
            <p:cNvSpPr/>
            <p:nvPr/>
          </p:nvSpPr>
          <p:spPr>
            <a:xfrm>
              <a:off x="523875" y="2028825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77887" y="2330450"/>
              <a:ext cx="244475" cy="331787"/>
              <a:chOff x="877887" y="2330450"/>
              <a:chExt cx="244475" cy="33178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95350" y="2365375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0125" y="2330450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47737" y="2505075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2512" y="2505075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7887" y="2540000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52512" y="2540000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47737" y="2609849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65200" y="2435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35050" y="2435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54787" y="3013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模型提议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847850" y="1657350"/>
            <a:ext cx="1714500" cy="1847850"/>
            <a:chOff x="1847850" y="1657350"/>
            <a:chExt cx="1714500" cy="1847850"/>
          </a:xfrm>
        </p:grpSpPr>
        <p:sp>
          <p:nvSpPr>
            <p:cNvPr id="21" name="Rectangle 21"/>
            <p:cNvSpPr/>
            <p:nvPr/>
          </p:nvSpPr>
          <p:spPr>
            <a:xfrm>
              <a:off x="1847850" y="1657350"/>
              <a:ext cx="1714500" cy="18478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0354" y="1889760"/>
              <a:ext cx="65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GATE 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68830" y="2314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工具白名单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70354" y="2766060"/>
              <a:ext cx="621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未知工具直接拒绝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771900" y="1657350"/>
            <a:ext cx="1714500" cy="1847850"/>
            <a:chOff x="3771900" y="1657350"/>
            <a:chExt cx="1714500" cy="1847850"/>
          </a:xfrm>
        </p:grpSpPr>
        <p:sp>
          <p:nvSpPr>
            <p:cNvPr id="26" name="Rectangle 26"/>
            <p:cNvSpPr/>
            <p:nvPr/>
          </p:nvSpPr>
          <p:spPr>
            <a:xfrm>
              <a:off x="3771900" y="1657350"/>
              <a:ext cx="1714500" cy="1847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994404" y="1889760"/>
              <a:ext cx="65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GATE 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92880" y="2314575"/>
              <a:ext cx="1244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参数 schema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4404" y="2766060"/>
              <a:ext cx="621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非法参数不执行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95950" y="1657350"/>
            <a:ext cx="1714500" cy="1847850"/>
            <a:chOff x="5695950" y="1657350"/>
            <a:chExt cx="1714500" cy="1847850"/>
          </a:xfrm>
        </p:grpSpPr>
        <p:sp>
          <p:nvSpPr>
            <p:cNvPr id="31" name="Rectangle 31"/>
            <p:cNvSpPr/>
            <p:nvPr/>
          </p:nvSpPr>
          <p:spPr>
            <a:xfrm>
              <a:off x="5695950" y="1657350"/>
              <a:ext cx="1714500" cy="18478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18454" y="1889760"/>
              <a:ext cx="65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GATE 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16930" y="2314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业务状态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18454" y="2766060"/>
              <a:ext cx="774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未核实信号不能调派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0" y="1657350"/>
            <a:ext cx="1714500" cy="1847850"/>
            <a:chOff x="7620000" y="1657350"/>
            <a:chExt cx="1714500" cy="1847850"/>
          </a:xfrm>
        </p:grpSpPr>
        <p:sp>
          <p:nvSpPr>
            <p:cNvPr id="36" name="Rectangle 36"/>
            <p:cNvSpPr/>
            <p:nvPr/>
          </p:nvSpPr>
          <p:spPr>
            <a:xfrm>
              <a:off x="7620000" y="1657350"/>
              <a:ext cx="1714500" cy="18478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869561" y="1885950"/>
              <a:ext cx="248008" cy="228599"/>
              <a:chOff x="7869561" y="1885950"/>
              <a:chExt cx="248008" cy="228599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869561" y="188595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039100" y="20637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840980" y="2314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人工审批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42504" y="2766060"/>
              <a:ext cx="774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审批已记录才允许写入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715500" y="1828800"/>
            <a:ext cx="2095500" cy="1352550"/>
            <a:chOff x="9715500" y="1828800"/>
            <a:chExt cx="2095500" cy="1352550"/>
          </a:xfrm>
        </p:grpSpPr>
        <p:sp>
          <p:nvSpPr>
            <p:cNvPr id="43" name="Rectangle 43"/>
            <p:cNvSpPr/>
            <p:nvPr/>
          </p:nvSpPr>
          <p:spPr>
            <a:xfrm>
              <a:off x="9715500" y="1828800"/>
              <a:ext cx="2095500" cy="13525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938004" y="2099310"/>
              <a:ext cx="16879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EXISTING DOMAIN API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34956" y="2434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状态迁移生效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38004" y="2804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并写入事件时间线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847850" y="3505200"/>
            <a:ext cx="7486650" cy="1790700"/>
            <a:chOff x="1847850" y="3505200"/>
            <a:chExt cx="7486650" cy="1790700"/>
          </a:xfrm>
        </p:grpSpPr>
        <p:sp>
          <p:nvSpPr>
            <p:cNvPr id="48" name="Line 48"/>
            <p:cNvSpPr/>
            <p:nvPr/>
          </p:nvSpPr>
          <p:spPr>
            <a:xfrm>
              <a:off x="2705100" y="35052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629150" y="35052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553200" y="35052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8477250" y="35052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847850" y="4095750"/>
              <a:ext cx="7486650" cy="12001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145030" y="4314825"/>
              <a:ext cx="2803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任何一层拒绝 → 无业务副作用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46554" y="4709160"/>
              <a:ext cx="5666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数据库和时间线不变；失败调用保留在工具轨迹中，可回放、可定位、可测试。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46554" y="4994910"/>
              <a:ext cx="5134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模型只能建议，服务端决定“能不能做”，授权人员决定“要不要做”。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715500" y="4095750"/>
            <a:ext cx="2139025" cy="1200150"/>
            <a:chOff x="9715500" y="4095750"/>
            <a:chExt cx="2139025" cy="1200150"/>
          </a:xfrm>
        </p:grpSpPr>
        <p:sp>
          <p:nvSpPr>
            <p:cNvPr id="57" name="Rectangle 57"/>
            <p:cNvSpPr/>
            <p:nvPr/>
          </p:nvSpPr>
          <p:spPr>
            <a:xfrm>
              <a:off x="9715500" y="4095750"/>
              <a:ext cx="2095500" cy="1200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938004" y="4328160"/>
              <a:ext cx="603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TESTED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33432" y="4650105"/>
              <a:ext cx="19210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个守门用例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38004" y="5013960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DFE3"/>
                  </a:solidFill>
                  <a:latin typeface="+mn-lt"/>
                  <a:ea typeface="+mn-ea"/>
                  <a:cs typeface="+mn-cs"/>
                </a:rPr>
                <a:t>test_copilot.py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76238" y="6115050"/>
            <a:ext cx="11439524" cy="345757"/>
            <a:chOff x="376238" y="6115050"/>
            <a:chExt cx="11439524" cy="345757"/>
          </a:xfrm>
        </p:grpSpPr>
        <p:sp>
          <p:nvSpPr>
            <p:cNvPr id="62" name="Line 62"/>
            <p:cNvSpPr/>
            <p:nvPr/>
          </p:nvSpPr>
          <p:spPr>
            <a:xfrm>
              <a:off x="381000" y="61150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76238" y="6284595"/>
              <a:ext cx="30687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四层：工具白名单 → 参数 schema → 业务状态 → 人工审批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666300" y="6284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625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/ ROLE HANDOFF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842368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一次事件生成三份角色交付，并可下载完整审计包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81000" y="1466850"/>
            <a:ext cx="4762500" cy="4476750"/>
            <a:chOff x="381000" y="1466850"/>
            <a:chExt cx="4762500" cy="4476750"/>
          </a:xfrm>
        </p:grpSpPr>
        <p:sp>
          <p:nvSpPr>
            <p:cNvPr id="6" name="Rectangle 6"/>
            <p:cNvSpPr/>
            <p:nvPr/>
          </p:nvSpPr>
          <p:spPr>
            <a:xfrm>
              <a:off x="381000" y="1466850"/>
              <a:ext cx="4762500" cy="4476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218" y="1581150"/>
              <a:ext cx="4754064" cy="4252246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381000" y="1466850"/>
              <a:ext cx="13335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9588" y="1588770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三角色真实输出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18582" y="1544955"/>
            <a:ext cx="3249168" cy="750570"/>
            <a:chOff x="5418582" y="1544955"/>
            <a:chExt cx="3249168" cy="750570"/>
          </a:xfrm>
        </p:grpSpPr>
        <p:sp>
          <p:nvSpPr>
            <p:cNvPr id="11" name="TextBox 11"/>
            <p:cNvSpPr txBox="1"/>
            <p:nvPr/>
          </p:nvSpPr>
          <p:spPr>
            <a:xfrm>
              <a:off x="5418582" y="15449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3130" y="16097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指挥台简报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4654" y="19278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态势、风险、站点建议与调派草稿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429250" y="22860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418582" y="2440305"/>
            <a:ext cx="3334512" cy="750570"/>
            <a:chOff x="5418582" y="2440305"/>
            <a:chExt cx="3334512" cy="750570"/>
          </a:xfrm>
        </p:grpSpPr>
        <p:sp>
          <p:nvSpPr>
            <p:cNvPr id="16" name="TextBox 16"/>
            <p:cNvSpPr txBox="1"/>
            <p:nvPr/>
          </p:nvSpPr>
          <p:spPr>
            <a:xfrm>
              <a:off x="5418582" y="24403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93130" y="25050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救援站首战信息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94654" y="28232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地址、危险源、入口、水源与首战要点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429250" y="31813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418582" y="3335655"/>
            <a:ext cx="3249168" cy="750570"/>
            <a:chOff x="5418582" y="3335655"/>
            <a:chExt cx="3249168" cy="750570"/>
          </a:xfrm>
        </p:grpSpPr>
        <p:sp>
          <p:nvSpPr>
            <p:cNvPr id="21" name="TextBox 21"/>
            <p:cNvSpPr txBox="1"/>
            <p:nvPr/>
          </p:nvSpPr>
          <p:spPr>
            <a:xfrm>
              <a:off x="5418582" y="33356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93130" y="34004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企业整改待办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94654" y="3718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处置配合、整改任务与复查闭环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429250" y="4076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429250" y="4362450"/>
            <a:ext cx="4381500" cy="1581150"/>
            <a:chOff x="5429250" y="4362450"/>
            <a:chExt cx="4381500" cy="1581150"/>
          </a:xfrm>
        </p:grpSpPr>
        <p:sp>
          <p:nvSpPr>
            <p:cNvPr id="26" name="Rectangle 26"/>
            <p:cNvSpPr/>
            <p:nvPr/>
          </p:nvSpPr>
          <p:spPr>
            <a:xfrm>
              <a:off x="5429250" y="4362450"/>
              <a:ext cx="4381500" cy="1581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708650" y="4641850"/>
              <a:ext cx="203199" cy="215899"/>
              <a:chOff x="5708650" y="4641850"/>
              <a:chExt cx="203199" cy="2158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708650" y="4806949"/>
                <a:ext cx="203199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50800">
                    <a:moveTo>
                      <a:pt x="0" y="0"/>
                    </a:moveTo>
                    <a:lnTo>
                      <a:pt x="0" y="25400"/>
                    </a:lnTo>
                    <a:cubicBezTo>
                      <a:pt x="0" y="39428"/>
                      <a:pt x="11372" y="50800"/>
                      <a:pt x="25400" y="50800"/>
                    </a:cubicBezTo>
                    <a:lnTo>
                      <a:pt x="177800" y="50800"/>
                    </a:lnTo>
                    <a:cubicBezTo>
                      <a:pt x="191828" y="50800"/>
                      <a:pt x="203199" y="39428"/>
                      <a:pt x="203199" y="254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746750" y="4730750"/>
                <a:ext cx="127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">
                    <a:moveTo>
                      <a:pt x="0" y="0"/>
                    </a:moveTo>
                    <a:lnTo>
                      <a:pt x="63500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810250" y="46418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145530" y="4638675"/>
              <a:ext cx="1964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JSON 可审计事件包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51754" y="5090160"/>
              <a:ext cx="264871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input　tool trace　evidence</a:t>
              </a:r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rejected evidence　human decisions</a:t>
              </a:r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role briefs　boundary statements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96500" y="1466850"/>
            <a:ext cx="1714500" cy="4572000"/>
            <a:chOff x="10096500" y="1466850"/>
            <a:chExt cx="1714500" cy="4572000"/>
          </a:xfrm>
        </p:grpSpPr>
        <p:sp>
          <p:nvSpPr>
            <p:cNvPr id="34" name="Rectangle 34"/>
            <p:cNvSpPr/>
            <p:nvPr/>
          </p:nvSpPr>
          <p:spPr>
            <a:xfrm>
              <a:off x="10096500" y="1466850"/>
              <a:ext cx="1714500" cy="4476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53675" y="1562100"/>
              <a:ext cx="1200150" cy="4476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10096500" y="1466850"/>
              <a:ext cx="17145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225088" y="1579245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手机端一键导出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6238" y="6303645"/>
            <a:ext cx="11439524" cy="176212"/>
            <a:chOff x="376238" y="6303645"/>
            <a:chExt cx="114395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376238" y="6303645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同一事件编号贯穿三个岗位；输出与人工动作写入同一时间线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666300" y="63036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840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/ THREE SCENARIOS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7660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三个场景证明系统会推进、会停下，也会拒答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381000" y="1466850"/>
            <a:ext cx="6953250" cy="4476750"/>
            <a:chOff x="381000" y="1466850"/>
            <a:chExt cx="6953250" cy="4476750"/>
          </a:xfrm>
        </p:grpSpPr>
        <p:sp>
          <p:nvSpPr>
            <p:cNvPr id="6" name="Rectangle 6"/>
            <p:cNvSpPr/>
            <p:nvPr/>
          </p:nvSpPr>
          <p:spPr>
            <a:xfrm>
              <a:off x="381000" y="1466850"/>
              <a:ext cx="6953250" cy="44767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466850"/>
              <a:ext cx="180975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466850"/>
              <a:ext cx="1714500" cy="666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905250" y="1466850"/>
              <a:ext cx="1714500" cy="666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619750" y="1466850"/>
              <a:ext cx="17145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3504" y="1737360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 / 系统行为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97112" y="1590675"/>
              <a:ext cx="1101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疑似误报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79763" y="18840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维保时间相邻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11612" y="1590675"/>
              <a:ext cx="1101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真实警情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54842" y="18840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冒烟见明火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6112" y="1590675"/>
              <a:ext cx="1101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数据不足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29921" y="1884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长期断报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81000" y="21336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190750" y="146685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905250" y="146685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619750" y="146685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504" y="2461260"/>
              <a:ext cx="878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动作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75154" y="2346960"/>
              <a:ext cx="9265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比对维保记录生成核实草稿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654" y="2346960"/>
              <a:ext cx="10789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检索现场信息推荐站点与草稿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04154" y="2346960"/>
              <a:ext cx="9265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列出五项缺口不猜测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81000" y="302895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504" y="33375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人工节点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154" y="3299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登记误报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89654" y="3204210"/>
              <a:ext cx="621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确认属实确认调派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04154" y="3299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补充信息后重跑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381000" y="38862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3504" y="4213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75154" y="4175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不建警情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89654" y="4080510"/>
              <a:ext cx="8122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完成调派三角色交付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04154" y="4175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安全拒答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381000" y="474345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3504" y="50330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安全意义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75154" y="4937760"/>
              <a:ext cx="469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冲突时先核实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89654" y="4937760"/>
              <a:ext cx="621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证据足够才推进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04154" y="4937760"/>
              <a:ext cx="621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证据不足明确停下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715250" y="1657350"/>
            <a:ext cx="4095750" cy="2667000"/>
            <a:chOff x="7715250" y="1657350"/>
            <a:chExt cx="4095750" cy="2667000"/>
          </a:xfrm>
        </p:grpSpPr>
        <p:sp>
          <p:nvSpPr>
            <p:cNvPr id="42" name="Rectangle 42"/>
            <p:cNvSpPr/>
            <p:nvPr/>
          </p:nvSpPr>
          <p:spPr>
            <a:xfrm>
              <a:off x="7715250" y="1657350"/>
              <a:ext cx="4095750" cy="2667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1704975"/>
              <a:ext cx="4095750" cy="2559844"/>
            </a:xfrm>
            <a:prstGeom prst="rect">
              <a:avLst/>
            </a:prstGeom>
          </p:spPr>
        </p:pic>
        <p:sp>
          <p:nvSpPr>
            <p:cNvPr id="44" name="Rectangle 44"/>
            <p:cNvSpPr/>
            <p:nvPr/>
          </p:nvSpPr>
          <p:spPr>
            <a:xfrm>
              <a:off x="7715250" y="1657350"/>
              <a:ext cx="1562100" cy="304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853362" y="1738312"/>
              <a:ext cx="142875" cy="142875"/>
              <a:chOff x="7853362" y="1738312"/>
              <a:chExt cx="142875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853362" y="17383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7"/>
                    </a:moveTo>
                    <a:cubicBezTo>
                      <a:pt x="0" y="110891"/>
                      <a:pt x="31984" y="142875"/>
                      <a:pt x="71437" y="142875"/>
                    </a:cubicBezTo>
                    <a:cubicBezTo>
                      <a:pt x="110891" y="142875"/>
                      <a:pt x="142875" y="110891"/>
                      <a:pt x="142875" y="71437"/>
                    </a:cubicBezTo>
                    <a:cubicBezTo>
                      <a:pt x="142875" y="31984"/>
                      <a:pt x="110891" y="0"/>
                      <a:pt x="71437" y="0"/>
                    </a:cubicBezTo>
                    <a:cubicBezTo>
                      <a:pt x="31984" y="0"/>
                      <a:pt x="0" y="31984"/>
                      <a:pt x="0" y="71437"/>
                    </a:cubicBez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900987" y="179387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110538" y="1769745"/>
              <a:ext cx="8361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 B 完成态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715250" y="4572000"/>
            <a:ext cx="4095750" cy="1371600"/>
            <a:chOff x="7715250" y="4572000"/>
            <a:chExt cx="4095750" cy="1371600"/>
          </a:xfrm>
        </p:grpSpPr>
        <p:sp>
          <p:nvSpPr>
            <p:cNvPr id="50" name="Rectangle 50"/>
            <p:cNvSpPr/>
            <p:nvPr/>
          </p:nvSpPr>
          <p:spPr>
            <a:xfrm>
              <a:off x="7715250" y="4572000"/>
              <a:ext cx="4095750" cy="1371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55280" y="47720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双模式保证评委可复现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56804" y="5185410"/>
              <a:ext cx="2442972" cy="5394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Scenario　离线、确定性回放Live　真实模型规划；失败自动回退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76238" y="6303645"/>
            <a:ext cx="11439524" cy="176212"/>
            <a:chOff x="376238" y="6303645"/>
            <a:chExt cx="11439524" cy="176212"/>
          </a:xfrm>
        </p:grpSpPr>
        <p:sp>
          <p:nvSpPr>
            <p:cNvPr id="54" name="TextBox 54"/>
            <p:cNvSpPr txBox="1"/>
            <p:nvPr/>
          </p:nvSpPr>
          <p:spPr>
            <a:xfrm>
              <a:off x="376238" y="6303645"/>
              <a:ext cx="45892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情景数据：三种行为与结果来自策展的合成演示夹具，不代表开放场景泛化表现。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666300" y="63036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53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 / ARCHITECTURE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89818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 Agent + 确定性工具层，核心闭环不依赖外部模型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81000" y="1447800"/>
            <a:ext cx="8953500" cy="857250"/>
            <a:chOff x="381000" y="1447800"/>
            <a:chExt cx="8953500" cy="857250"/>
          </a:xfrm>
        </p:grpSpPr>
        <p:sp>
          <p:nvSpPr>
            <p:cNvPr id="6" name="Rectangle 6"/>
            <p:cNvSpPr/>
            <p:nvPr/>
          </p:nvSpPr>
          <p:spPr>
            <a:xfrm>
              <a:off x="381000" y="1447800"/>
              <a:ext cx="6477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80615" y="17907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28700" y="1447800"/>
              <a:ext cx="8305800" cy="857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D9DFE3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95400" y="1755775"/>
              <a:ext cx="228599" cy="212724"/>
              <a:chOff x="1295400" y="1755775"/>
              <a:chExt cx="228599" cy="21272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95400" y="1755775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215899" y="0"/>
                    </a:lnTo>
                    <a:cubicBezTo>
                      <a:pt x="222913" y="0"/>
                      <a:pt x="228599" y="5686"/>
                      <a:pt x="228599" y="12700"/>
                    </a:cubicBezTo>
                    <a:lnTo>
                      <a:pt x="228599" y="139700"/>
                    </a:lnTo>
                    <a:cubicBezTo>
                      <a:pt x="228599" y="146714"/>
                      <a:pt x="222913" y="152400"/>
                      <a:pt x="215899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46200" y="1958974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71600" y="1908174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47800" y="1908174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744980" y="1647825"/>
              <a:ext cx="1840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响应式 Web 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46504" y="1946910"/>
              <a:ext cx="4976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原生 HTML / CSS / JS　·　桌面指挥 + 手机确认　·　fetch / SSE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1000" y="2438400"/>
            <a:ext cx="8953500" cy="857250"/>
            <a:chOff x="381000" y="2438400"/>
            <a:chExt cx="8953500" cy="857250"/>
          </a:xfrm>
        </p:grpSpPr>
        <p:sp>
          <p:nvSpPr>
            <p:cNvPr id="17" name="Rectangle 17"/>
            <p:cNvSpPr/>
            <p:nvPr/>
          </p:nvSpPr>
          <p:spPr>
            <a:xfrm>
              <a:off x="381000" y="2438400"/>
              <a:ext cx="647700" cy="857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0615" y="27813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28700" y="2438400"/>
              <a:ext cx="8305800" cy="857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9DFE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9680" y="2638425"/>
              <a:ext cx="3185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FastAPI：领域 API + Copilot API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1204" y="293751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监测、核实、警情、调派、站端状态、首报、时间线、运行审批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3429000"/>
            <a:ext cx="8953500" cy="1143000"/>
            <a:chOff x="381000" y="3429000"/>
            <a:chExt cx="8953500" cy="1143000"/>
          </a:xfrm>
        </p:grpSpPr>
        <p:sp>
          <p:nvSpPr>
            <p:cNvPr id="23" name="Rectangle 23"/>
            <p:cNvSpPr/>
            <p:nvPr/>
          </p:nvSpPr>
          <p:spPr>
            <a:xfrm>
              <a:off x="381000" y="3429000"/>
              <a:ext cx="6477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0615" y="39147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28700" y="3429000"/>
              <a:ext cx="830580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328738" y="3686175"/>
              <a:ext cx="200024" cy="271463"/>
              <a:chOff x="1328738" y="3686175"/>
              <a:chExt cx="200024" cy="27146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343025" y="371475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85725"/>
                    </a:lnTo>
                    <a:cubicBezTo>
                      <a:pt x="171450" y="101507"/>
                      <a:pt x="158657" y="114300"/>
                      <a:pt x="14287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428750" y="368617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385888" y="3829050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471612" y="3829050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28738" y="385762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471612" y="385762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0"/>
                    </a:moveTo>
                    <a:lnTo>
                      <a:pt x="57150" y="28575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385888" y="3914775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400175" y="3771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457325" y="3771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783080" y="3629025"/>
              <a:ext cx="1384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CopilotEngine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84604" y="3947160"/>
              <a:ext cx="4039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Scenario 确定性回放　｜　Live 结构化规划与自动回退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776681" y="3700462"/>
              <a:ext cx="279010" cy="257176"/>
              <a:chOff x="5776681" y="3700462"/>
              <a:chExt cx="279010" cy="25717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776681" y="370046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967412" y="39004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278880" y="3629025"/>
              <a:ext cx="1024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ToolGuard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0404" y="3947160"/>
              <a:ext cx="2193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白名单　schema　状态　审批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81000" y="4705350"/>
            <a:ext cx="8953500" cy="1066800"/>
            <a:chOff x="381000" y="4705350"/>
            <a:chExt cx="8953500" cy="1066800"/>
          </a:xfrm>
        </p:grpSpPr>
        <p:sp>
          <p:nvSpPr>
            <p:cNvPr id="44" name="Rectangle 44"/>
            <p:cNvSpPr/>
            <p:nvPr/>
          </p:nvSpPr>
          <p:spPr>
            <a:xfrm>
              <a:off x="381000" y="4705350"/>
              <a:ext cx="647700" cy="1066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0615" y="5153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28700" y="4705350"/>
              <a:ext cx="8305800" cy="1066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9DFE3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314450" y="5053012"/>
              <a:ext cx="228600" cy="257176"/>
              <a:chOff x="1314450" y="5053012"/>
              <a:chExt cx="228600" cy="25717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1314450" y="50530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5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314450" y="50958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5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314450" y="51816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5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783080" y="4981575"/>
              <a:ext cx="2374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PostgreSQL + 合成 CSV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84604" y="5318760"/>
              <a:ext cx="5968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事件、核实、警情、调派、报告、时间线、copilot_runs；按 ID 精确检索策展证据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715500" y="2343150"/>
            <a:ext cx="2095500" cy="2209800"/>
            <a:chOff x="9715500" y="2343150"/>
            <a:chExt cx="2095500" cy="2209800"/>
          </a:xfrm>
        </p:grpSpPr>
        <p:sp>
          <p:nvSpPr>
            <p:cNvPr id="54" name="Rectangle 54"/>
            <p:cNvSpPr/>
            <p:nvPr/>
          </p:nvSpPr>
          <p:spPr>
            <a:xfrm>
              <a:off x="9715500" y="2343150"/>
              <a:ext cx="2095500" cy="22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938004" y="2575560"/>
              <a:ext cx="1445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OPTIONAL MODEL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33432" y="2935605"/>
              <a:ext cx="16574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ModelScope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36480" y="3305175"/>
              <a:ext cx="1018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Qwen 系列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944100" y="375285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938004" y="3947160"/>
              <a:ext cx="1383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D9DFE3"/>
                  </a:solidFill>
                  <a:latin typeface="+mn-lt"/>
                  <a:ea typeface="+mn-ea"/>
                  <a:cs typeface="+mn-cs"/>
                </a:rPr>
                <a:t>OpenAI 兼容协议三个环境变量可替换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525000" y="4953000"/>
            <a:ext cx="2347265" cy="714756"/>
            <a:chOff x="9525000" y="4953000"/>
            <a:chExt cx="2347265" cy="714756"/>
          </a:xfrm>
        </p:grpSpPr>
        <p:sp>
          <p:nvSpPr>
            <p:cNvPr id="61" name="Line 61"/>
            <p:cNvSpPr/>
            <p:nvPr/>
          </p:nvSpPr>
          <p:spPr>
            <a:xfrm>
              <a:off x="9525000" y="4953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709404" y="5128260"/>
              <a:ext cx="21628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超时 / 无效 JSON / 不可用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09404" y="5433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自动回退确定性模板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76238" y="6303645"/>
            <a:ext cx="11439524" cy="176212"/>
            <a:chOff x="376238" y="6303645"/>
            <a:chExt cx="11439524" cy="176212"/>
          </a:xfrm>
        </p:grpSpPr>
        <p:sp>
          <p:nvSpPr>
            <p:cNvPr id="65" name="TextBox 65"/>
            <p:cNvSpPr txBox="1"/>
            <p:nvPr/>
          </p:nvSpPr>
          <p:spPr>
            <a:xfrm>
              <a:off x="376238" y="6303645"/>
              <a:ext cx="29173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当前没有向量库；文档量或检索评测证明需要时再升级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666300" y="63036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67284" y="499110"/>
            <a:ext cx="11443716" cy="785241"/>
            <a:chOff x="367284" y="499110"/>
            <a:chExt cx="11443716" cy="785241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 / REPRODUCIBLE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56285"/>
              <a:ext cx="99473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44 个后端测试 + 双端 E2E，把“可运行”变成可复现证据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81000" y="12382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543050"/>
            <a:ext cx="3048000" cy="4000500"/>
            <a:chOff x="381000" y="1543050"/>
            <a:chExt cx="3048000" cy="4000500"/>
          </a:xfrm>
        </p:grpSpPr>
        <p:sp>
          <p:nvSpPr>
            <p:cNvPr id="6" name="Rectangle 6"/>
            <p:cNvSpPr/>
            <p:nvPr/>
          </p:nvSpPr>
          <p:spPr>
            <a:xfrm>
              <a:off x="381000" y="1543050"/>
              <a:ext cx="3048000" cy="400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673901" y="1876425"/>
              <a:ext cx="310011" cy="285751"/>
              <a:chOff x="673901" y="1876425"/>
              <a:chExt cx="310011" cy="285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73901" y="187642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85825" y="209867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628650" y="2531745"/>
              <a:ext cx="1110954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032" y="350710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后端自动化测试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47700" y="40957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0080" y="4314825"/>
              <a:ext cx="2298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单元 + API + 数据库集成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604" y="47282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DFE3"/>
                  </a:solidFill>
                  <a:latin typeface="+mn-lt"/>
                  <a:ea typeface="+mn-ea"/>
                  <a:cs typeface="+mn-cs"/>
                </a:rPr>
                <a:t>当前回归：44 / 44 通过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94582" y="1621155"/>
            <a:ext cx="3725418" cy="655320"/>
            <a:chOff x="3894582" y="1621155"/>
            <a:chExt cx="3725418" cy="655320"/>
          </a:xfrm>
        </p:grpSpPr>
        <p:sp>
          <p:nvSpPr>
            <p:cNvPr id="16" name="TextBox 16"/>
            <p:cNvSpPr txBox="1"/>
            <p:nvPr/>
          </p:nvSpPr>
          <p:spPr>
            <a:xfrm>
              <a:off x="3894582" y="1621155"/>
              <a:ext cx="8673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场景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21630" y="1685925"/>
              <a:ext cx="1863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浏览器 E2E 全流程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23154" y="196596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误报 / 真实警情 / 安全拒答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905250" y="22669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894582" y="2440305"/>
            <a:ext cx="4149700" cy="655320"/>
            <a:chOff x="3894582" y="2440305"/>
            <a:chExt cx="4149700" cy="655320"/>
          </a:xfrm>
        </p:grpSpPr>
        <p:sp>
          <p:nvSpPr>
            <p:cNvPr id="21" name="TextBox 21"/>
            <p:cNvSpPr txBox="1"/>
            <p:nvPr/>
          </p:nvSpPr>
          <p:spPr>
            <a:xfrm>
              <a:off x="3894582" y="2440305"/>
              <a:ext cx="11641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390×844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21630" y="25050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手机端处置可用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23154" y="278511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人工确认 + 审计包导出，无横向溢出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905250" y="30861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894582" y="3259455"/>
            <a:ext cx="4028542" cy="655320"/>
            <a:chOff x="3894582" y="3259455"/>
            <a:chExt cx="4028542" cy="655320"/>
          </a:xfrm>
        </p:grpSpPr>
        <p:sp>
          <p:nvSpPr>
            <p:cNvPr id="26" name="TextBox 26"/>
            <p:cNvSpPr txBox="1"/>
            <p:nvPr/>
          </p:nvSpPr>
          <p:spPr>
            <a:xfrm>
              <a:off x="3894582" y="32594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21630" y="3324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证据覆盖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23154" y="3604260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expected_evidence 均由工具产出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3905250" y="39052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3894582" y="4078605"/>
            <a:ext cx="3963924" cy="655320"/>
            <a:chOff x="3894582" y="4078605"/>
            <a:chExt cx="3963924" cy="655320"/>
          </a:xfrm>
        </p:grpSpPr>
        <p:sp>
          <p:nvSpPr>
            <p:cNvPr id="31" name="TextBox 31"/>
            <p:cNvSpPr txBox="1"/>
            <p:nvPr/>
          </p:nvSpPr>
          <p:spPr>
            <a:xfrm>
              <a:off x="3894582" y="407860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21630" y="41433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五项缺项召回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23154" y="44234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地点、人员、危险源、趋势、措施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905250" y="47244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3894582" y="4897755"/>
            <a:ext cx="3963924" cy="579501"/>
            <a:chOff x="3894582" y="4897755"/>
            <a:chExt cx="3963924" cy="579501"/>
          </a:xfrm>
        </p:grpSpPr>
        <p:sp>
          <p:nvSpPr>
            <p:cNvPr id="36" name="TextBox 36"/>
            <p:cNvSpPr txBox="1"/>
            <p:nvPr/>
          </p:nvSpPr>
          <p:spPr>
            <a:xfrm>
              <a:off x="3894582" y="48977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21630" y="4962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安全守门结果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23154" y="52425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拒答、越权、虚构证据与回退路径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96250" y="1562100"/>
            <a:ext cx="3714750" cy="4000500"/>
            <a:chOff x="8096250" y="1562100"/>
            <a:chExt cx="3714750" cy="4000500"/>
          </a:xfrm>
        </p:grpSpPr>
        <p:sp>
          <p:nvSpPr>
            <p:cNvPr id="40" name="Rectangle 40"/>
            <p:cNvSpPr/>
            <p:nvPr/>
          </p:nvSpPr>
          <p:spPr>
            <a:xfrm>
              <a:off x="8096250" y="1562100"/>
              <a:ext cx="3714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96250" y="1562100"/>
              <a:ext cx="3714750" cy="7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53806" y="18440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已知缺口，主动写在报告里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5330" y="2390775"/>
              <a:ext cx="2434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Live 输出未做大规模评测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55330" y="28670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5 家合成企业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55330" y="3343275"/>
              <a:ext cx="1948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手机端不是原生 App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55330" y="38195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语音识别尚未接入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362950" y="4362450"/>
              <a:ext cx="3181350" cy="9525"/>
            </a:xfrm>
            <a:custGeom>
              <a:avLst/>
              <a:gdLst/>
              <a:ahLst/>
              <a:cxnLst/>
              <a:rect l="l" t="t" r="r" b="b"/>
              <a:pathLst>
                <a:path w="3181350" h="9525">
                  <a:moveTo>
                    <a:pt x="0" y="0"/>
                  </a:moveTo>
                  <a:lnTo>
                    <a:pt x="318135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56854" y="4594860"/>
              <a:ext cx="19933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这些限制不影响当前核心闭环从 README 离线复现。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362950" y="5162550"/>
              <a:ext cx="1809750" cy="285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91538" y="5265420"/>
              <a:ext cx="10272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合成场景评测口径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76238" y="6115050"/>
            <a:ext cx="11439524" cy="345757"/>
            <a:chOff x="376238" y="6115050"/>
            <a:chExt cx="11439524" cy="345757"/>
          </a:xfrm>
        </p:grpSpPr>
        <p:sp>
          <p:nvSpPr>
            <p:cNvPr id="52" name="Line 52"/>
            <p:cNvSpPr/>
            <p:nvPr/>
          </p:nvSpPr>
          <p:spPr>
            <a:xfrm>
              <a:off x="381000" y="61150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9DFE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76238" y="6284595"/>
              <a:ext cx="40804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情景数据：所有 100% 指标仅适用于当前三个策展场景与守门测试集合。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666300" y="6284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9684" y="432435"/>
            <a:ext cx="10802112" cy="528066"/>
            <a:chOff x="519684" y="432435"/>
            <a:chExt cx="1080211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432435"/>
              <a:ext cx="74959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从可运行原型，到可复用的消防 Agent 基线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382963" y="565785"/>
              <a:ext cx="19388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OPEN SOURCE ROADMAP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2475" y="1390650"/>
            <a:ext cx="3891153" cy="3867150"/>
            <a:chOff x="752475" y="1390650"/>
            <a:chExt cx="3891153" cy="3867150"/>
          </a:xfrm>
        </p:grpSpPr>
        <p:sp>
          <p:nvSpPr>
            <p:cNvPr id="5" name="Line 5"/>
            <p:cNvSpPr/>
            <p:nvPr/>
          </p:nvSpPr>
          <p:spPr>
            <a:xfrm>
              <a:off x="838200" y="1581150"/>
              <a:ext cx="9525" cy="3676650"/>
            </a:xfrm>
            <a:custGeom>
              <a:avLst/>
              <a:gdLst/>
              <a:ahLst/>
              <a:cxnLst/>
              <a:rect l="l" t="t" r="r" b="b"/>
              <a:pathLst>
                <a:path w="9525" h="3676650">
                  <a:moveTo>
                    <a:pt x="0" y="0"/>
                  </a:moveTo>
                  <a:lnTo>
                    <a:pt x="0" y="36766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752475" y="15335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3480" y="1390650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当前：可复现原型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5004" y="1699260"/>
              <a:ext cx="2709672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53616C"/>
                  </a:solidFill>
                  <a:latin typeface="+mn-lt"/>
                  <a:ea typeface="+mn-ea"/>
                  <a:cs typeface="+mn-cs"/>
                </a:rPr>
                <a:t>响应式 Web · 3 个场景 · 44 项后端测试桌面/手机 E2E · 演示视频 · 合规说明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6200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73480" y="25527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初赛提交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5004" y="28613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C"/>
                  </a:solidFill>
                  <a:latin typeface="+mn-lt"/>
                  <a:ea typeface="+mn-ea"/>
                  <a:cs typeface="+mn-cs"/>
                </a:rPr>
                <a:t>PPT/PDF · 500 字项目介绍 · 视频 · 开源仓库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3752850"/>
              <a:ext cx="152400" cy="152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3480" y="36004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复赛增强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5004" y="39090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C"/>
                  </a:solidFill>
                  <a:latin typeface="+mn-lt"/>
                  <a:ea typeface="+mn-ea"/>
                  <a:cs typeface="+mn-cs"/>
                </a:rPr>
                <a:t>部署指南 · 开源许可 · 扩展评测集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4800600"/>
              <a:ext cx="152400" cy="152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3480" y="46482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决赛前验证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5004" y="4956810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C"/>
                  </a:solidFill>
                  <a:latin typeface="+mn-lt"/>
                  <a:ea typeface="+mn-ea"/>
                  <a:cs typeface="+mn-cs"/>
                </a:rPr>
                <a:t>至少 1 位消防领域专家完成盲评与反馈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91250" y="1390650"/>
            <a:ext cx="5076692" cy="1638300"/>
            <a:chOff x="6191250" y="1390650"/>
            <a:chExt cx="5076692" cy="1638300"/>
          </a:xfrm>
        </p:grpSpPr>
        <p:sp>
          <p:nvSpPr>
            <p:cNvPr id="19" name="Rectangle 19"/>
            <p:cNvSpPr/>
            <p:nvPr/>
          </p:nvSpPr>
          <p:spPr>
            <a:xfrm>
              <a:off x="6191250" y="1390650"/>
              <a:ext cx="57150" cy="163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3200" y="1604010"/>
              <a:ext cx="38958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不替代指挥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2344" y="236124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它让每一步有证据、有人确认、可复盘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83630" y="3794760"/>
            <a:ext cx="5132070" cy="1308735"/>
            <a:chOff x="6183630" y="3794760"/>
            <a:chExt cx="5132070" cy="1308735"/>
          </a:xfrm>
        </p:grpSpPr>
        <p:sp>
          <p:nvSpPr>
            <p:cNvPr id="23" name="TextBox 23"/>
            <p:cNvSpPr txBox="1"/>
            <p:nvPr/>
          </p:nvSpPr>
          <p:spPr>
            <a:xfrm>
              <a:off x="6185154" y="37947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计划开放的最小复现资产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191250" y="40957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9E0E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83630" y="4295775"/>
              <a:ext cx="17962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合成场景数据集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55380" y="4295775"/>
              <a:ext cx="182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Agent 工具契约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3630" y="4810125"/>
              <a:ext cx="1584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自动评测脚本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55380" y="4810125"/>
              <a:ext cx="1584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最小运行模板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185154" y="5623560"/>
            <a:ext cx="5666232" cy="234696"/>
            <a:chOff x="6185154" y="5623560"/>
            <a:chExt cx="566623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185154" y="5623560"/>
              <a:ext cx="5666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C"/>
                  </a:solidFill>
                  <a:latin typeface="+mn-lt"/>
                  <a:ea typeface="+mn-ea"/>
                  <a:cs typeface="+mn-cs"/>
                </a:rPr>
                <a:t>演示与评测目前使用合成场景数据；真实部署需接入现场系统并通过专业审查。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7304" y="6305550"/>
            <a:ext cx="11137392" cy="371856"/>
            <a:chOff x="527304" y="6305550"/>
            <a:chExt cx="11137392" cy="371856"/>
          </a:xfrm>
        </p:grpSpPr>
        <p:sp>
          <p:nvSpPr>
            <p:cNvPr id="32" name="Line 32"/>
            <p:cNvSpPr/>
            <p:nvPr/>
          </p:nvSpPr>
          <p:spPr>
            <a:xfrm>
              <a:off x="533400" y="63055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0E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304" y="6442710"/>
              <a:ext cx="26398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16C"/>
                  </a:solidFill>
                  <a:latin typeface="+mn-lt"/>
                  <a:ea typeface="+mn-ea"/>
                  <a:cs typeface="+mn-cs"/>
                </a:rPr>
                <a:t>FireGuard Copilot · GOAI 无界应用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74806" y="6442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3616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ireguard-copilot-goai">
  <a:themeElements>
    <a:clrScheme name="fireguard-copilot-goai">
      <a:dk1>
        <a:srgbClr val="17212B"/>
      </a:dk1>
      <a:lt1>
        <a:srgbClr val="FFFFFF"/>
      </a:lt1>
      <a:dk2>
        <a:srgbClr val="1F497D"/>
      </a:dk2>
      <a:lt2>
        <a:srgbClr val="F6F8F9"/>
      </a:lt2>
      <a:accent1>
        <a:srgbClr val="0F1D27"/>
      </a:accent1>
      <a:accent2>
        <a:srgbClr val="DE2F32"/>
      </a:accent2>
      <a:accent3>
        <a:srgbClr val="2276BB"/>
      </a:accent3>
      <a:accent4>
        <a:srgbClr val="0F1D27"/>
      </a:accent4>
      <a:accent5>
        <a:srgbClr val="148558"/>
      </a:accent5>
      <a:accent6>
        <a:srgbClr val="D77A00"/>
      </a:accent6>
      <a:hlink>
        <a:srgbClr val="DE2F32"/>
      </a:hlink>
      <a:folHlink>
        <a:srgbClr val="2276BB"/>
      </a:folHlink>
    </a:clrScheme>
    <a:fontScheme name="fireguard-copilot-goai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ireguard-copilot-goa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ireguard-copilot-goai">
  <a:themeElements>
    <a:clrScheme name="fireguard-copilot-goai">
      <a:dk1>
        <a:srgbClr val="17212B"/>
      </a:dk1>
      <a:lt1>
        <a:srgbClr val="FFFFFF"/>
      </a:lt1>
      <a:dk2>
        <a:srgbClr val="1F497D"/>
      </a:dk2>
      <a:lt2>
        <a:srgbClr val="F6F8F9"/>
      </a:lt2>
      <a:accent1>
        <a:srgbClr val="0F1D27"/>
      </a:accent1>
      <a:accent2>
        <a:srgbClr val="DE2F32"/>
      </a:accent2>
      <a:accent3>
        <a:srgbClr val="2276BB"/>
      </a:accent3>
      <a:accent4>
        <a:srgbClr val="0F1D27"/>
      </a:accent4>
      <a:accent5>
        <a:srgbClr val="148558"/>
      </a:accent5>
      <a:accent6>
        <a:srgbClr val="D77A00"/>
      </a:accent6>
      <a:hlink>
        <a:srgbClr val="DE2F32"/>
      </a:hlink>
      <a:folHlink>
        <a:srgbClr val="2276BB"/>
      </a:folHlink>
    </a:clrScheme>
    <a:fontScheme name="fireguard-copilot-goai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ireguard-copilot-goa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2026-08-06T09:55:38Z</dcterms:created>
  <dcterms:modified xsi:type="dcterms:W3CDTF">2026-08-06T09:55:38Z</dcterms:modified>
  <cp:category/>
  <cp:contentStatus/>
</cp:coreProperties>
</file>