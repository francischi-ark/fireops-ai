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ea9e407be44157" /><Relationship Type="http://schemas.openxmlformats.org/officeDocument/2006/relationships/extended-properties" Target="/docProps/app.xml" Id="R5dc7ae547b0b4e91" /><Relationship Type="http://schemas.openxmlformats.org/officeDocument/2006/relationships/officeDocument" Target="/ppt/presentation.xml" Id="Rc4ed2e5e64bc46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d4508a1f9140c1"/>
  </p:sldMasterIdLst>
  <p:notesMasterIdLst>
    <p:notesMasterId xmlns:r="http://schemas.openxmlformats.org/officeDocument/2006/relationships" r:id="R104588908904457f"/>
  </p:notesMasterIdLst>
  <p:sldIdLst>
    <p:sldId xmlns:r="http://schemas.openxmlformats.org/officeDocument/2006/relationships" id="256" r:id="Rdec6b873be394068"/>
    <p:sldId xmlns:r="http://schemas.openxmlformats.org/officeDocument/2006/relationships" id="257" r:id="Rcd8e3ebdc4b441d8"/>
    <p:sldId xmlns:r="http://schemas.openxmlformats.org/officeDocument/2006/relationships" id="258" r:id="R464366facbd14dbd"/>
    <p:sldId xmlns:r="http://schemas.openxmlformats.org/officeDocument/2006/relationships" id="259" r:id="R8a954c6916b84d3c"/>
    <p:sldId xmlns:r="http://schemas.openxmlformats.org/officeDocument/2006/relationships" id="260" r:id="R7505552fd6b64caf"/>
    <p:sldId xmlns:r="http://schemas.openxmlformats.org/officeDocument/2006/relationships" id="261" r:id="Rea5a31a2d04c48dc"/>
    <p:sldId xmlns:r="http://schemas.openxmlformats.org/officeDocument/2006/relationships" id="262" r:id="R044dea3e222e41f6"/>
    <p:sldId xmlns:r="http://schemas.openxmlformats.org/officeDocument/2006/relationships" id="263" r:id="Rd8480f20f9b34592"/>
    <p:sldId xmlns:r="http://schemas.openxmlformats.org/officeDocument/2006/relationships" id="264" r:id="Rd38c22cf9add46cb"/>
    <p:sldId xmlns:r="http://schemas.openxmlformats.org/officeDocument/2006/relationships" id="265" r:id="R7ec7ccfeaf24410b"/>
    <p:sldId xmlns:r="http://schemas.openxmlformats.org/officeDocument/2006/relationships" id="266" r:id="R47b7011c97aa40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7f341695234f32" /><Relationship Type="http://schemas.openxmlformats.org/officeDocument/2006/relationships/slideMaster" Target="/ppt/slideMasters/slideMaster1.xml" Id="Rf0d4508a1f9140c1" /><Relationship Type="http://schemas.openxmlformats.org/officeDocument/2006/relationships/notesMaster" Target="/ppt/notesMasters/notesMaster1.xml" Id="R104588908904457f" /><Relationship Type="http://schemas.openxmlformats.org/officeDocument/2006/relationships/presProps" Target="/ppt/presProps.xml" Id="R1f858ed58cba4e06" /><Relationship Type="http://schemas.openxmlformats.org/officeDocument/2006/relationships/tableStyles" Target="/ppt/tableStyles.xml" Id="Rb505b160f7314dd9" /><Relationship Type="http://schemas.openxmlformats.org/officeDocument/2006/relationships/slide" Target="/ppt/slides/slide1.xml" Id="Rdec6b873be394068" /><Relationship Type="http://schemas.openxmlformats.org/officeDocument/2006/relationships/slide" Target="/ppt/slides/slide2.xml" Id="Rcd8e3ebdc4b441d8" /><Relationship Type="http://schemas.openxmlformats.org/officeDocument/2006/relationships/slide" Target="/ppt/slides/slide3.xml" Id="R464366facbd14dbd" /><Relationship Type="http://schemas.openxmlformats.org/officeDocument/2006/relationships/slide" Target="/ppt/slides/slide4.xml" Id="R8a954c6916b84d3c" /><Relationship Type="http://schemas.openxmlformats.org/officeDocument/2006/relationships/slide" Target="/ppt/slides/slide5.xml" Id="R7505552fd6b64caf" /><Relationship Type="http://schemas.openxmlformats.org/officeDocument/2006/relationships/slide" Target="/ppt/slides/slide6.xml" Id="Rea5a31a2d04c48dc" /><Relationship Type="http://schemas.openxmlformats.org/officeDocument/2006/relationships/slide" Target="/ppt/slides/slide7.xml" Id="R044dea3e222e41f6" /><Relationship Type="http://schemas.openxmlformats.org/officeDocument/2006/relationships/slide" Target="/ppt/slides/slide8.xml" Id="Rd8480f20f9b34592" /><Relationship Type="http://schemas.openxmlformats.org/officeDocument/2006/relationships/slide" Target="/ppt/slides/slide9.xml" Id="Rd38c22cf9add46cb" /><Relationship Type="http://schemas.openxmlformats.org/officeDocument/2006/relationships/slide" Target="/ppt/slides/slide10.xml" Id="R7ec7ccfeaf24410b" /><Relationship Type="http://schemas.openxmlformats.org/officeDocument/2006/relationships/slide" Target="/ppt/slides/slide11.xml" Id="R47b7011c97aa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9401a360fb41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a52e81baba4f18" /><Relationship Type="http://schemas.openxmlformats.org/officeDocument/2006/relationships/notesMaster" Target="/ppt/notesMasters/notesMaster1.xml" Id="R4723614b40ed48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a60be256104c53" /><Relationship Type="http://schemas.openxmlformats.org/officeDocument/2006/relationships/notesMaster" Target="/ppt/notesMasters/notesMaster1.xml" Id="Re21914dceb404f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3de432a6f64722" /><Relationship Type="http://schemas.openxmlformats.org/officeDocument/2006/relationships/notesMaster" Target="/ppt/notesMasters/notesMaster1.xml" Id="Rc9ca0ae37d9d43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f3b437804e4a10" /><Relationship Type="http://schemas.openxmlformats.org/officeDocument/2006/relationships/notesMaster" Target="/ppt/notesMasters/notesMaster1.xml" Id="R1fb2c24db2454d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4fea2c262b40c0" /><Relationship Type="http://schemas.openxmlformats.org/officeDocument/2006/relationships/notesMaster" Target="/ppt/notesMasters/notesMaster1.xml" Id="R7cae56e519574a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3fb69bf8de47cb" /><Relationship Type="http://schemas.openxmlformats.org/officeDocument/2006/relationships/notesMaster" Target="/ppt/notesMasters/notesMaster1.xml" Id="Rbe5393b9e1384b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6e1bef664d4a47" /><Relationship Type="http://schemas.openxmlformats.org/officeDocument/2006/relationships/notesMaster" Target="/ppt/notesMasters/notesMaster1.xml" Id="Rd414b67fcc3441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e1eab338574be2" /><Relationship Type="http://schemas.openxmlformats.org/officeDocument/2006/relationships/notesMaster" Target="/ppt/notesMasters/notesMaster1.xml" Id="R05683f65655346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705ae464ae498f" /><Relationship Type="http://schemas.openxmlformats.org/officeDocument/2006/relationships/notesMaster" Target="/ppt/notesMasters/notesMaster1.xml" Id="R024ab42fc16343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703e76d72546aa" /><Relationship Type="http://schemas.openxmlformats.org/officeDocument/2006/relationships/notesMaster" Target="/ppt/notesMasters/notesMaster1.xml" Id="Rb8385669fb0840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5f5f97bdb146fb" /><Relationship Type="http://schemas.openxmlformats.org/officeDocument/2006/relationships/notesMaster" Target="/ppt/notesMasters/notesMaster1.xml" Id="R068667ec47c34b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开场只讲一个问题：报警后的动作容易断链。不要先讲协议。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GOAI 无界应用赛道页：https://www.goaihz.com/tracks?track=apps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用四个分散载体说明为什么现场需要 Agent：不是为了多一个聊天窗口，而是把跨系统、跨岗位动作放进同一事件。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项目仓库与本地演示数据；无外部非平凡主张。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这一页给出一句话方案和完整闭环，随后再进入产品。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项目仓库与本地演示数据；无外部非平凡主张。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重点讲中间地图：它回答在哪里；右侧证据回答为什么；红色人工核实区回答谁来决定。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项目仓库与本地演示数据；无外部非平凡主张。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强调合法状态迁移：高风险状态由人确认，班组只能推进下一步。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项目仓库与本地演示数据；无外部非平凡主张。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这里是区别于普通工单系统的关键：整改完成后还要由巡查员复查。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项目仓库与本地演示数据；无外部非平凡主张。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回答评委最关心的问题：为什么一定要用 AI。原因不是生成文本，而是需要跨多个异构资料做上下文补全，并把依据一并交付。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项目仓库与本地演示数据；无外部非平凡主张。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实际产出不是一段回答，而是可追到责任人和时间戳的业务对象。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项目仓库与本地演示数据；无外部非平凡主张。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工程部分控制在一页。强调替换边界：输入、模型和检索层可替换，状态机与审计约束不依赖模型。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项目仓库与本地演示数据；无外部非平凡主张。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安全边界是产品机制，不是口头免责声明。高风险决定必须由人完成。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项目仓库与本地演示数据；无外部非平凡主张。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结束时回到价值，不重复功能清单。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GOAI 无界应用赛道页：https://www.goaihz.com/tracks?track=apps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ca27d2ffe43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eb7bee7df84cf4" /><Relationship Type="http://schemas.openxmlformats.org/officeDocument/2006/relationships/slideLayout" Target="/ppt/slideLayouts/slideLayout1.xml" Id="R273e0fe0ca7946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3e0fe0ca7946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b97e6dd2c4323" /><Relationship Type="http://schemas.openxmlformats.org/officeDocument/2006/relationships/notesSlide" Target="/ppt/notesSlides/notesSlide1.xml" Id="R2ae5776761524f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9037bb854439f" /><Relationship Type="http://schemas.openxmlformats.org/officeDocument/2006/relationships/notesSlide" Target="/ppt/notesSlides/notesSlide2.xml" Id="Ra6affcc4a01440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d51b89ce74c70" /><Relationship Type="http://schemas.openxmlformats.org/officeDocument/2006/relationships/notesSlide" Target="/ppt/notesSlides/notesSlide3.xml" Id="R9a2806c54f8d43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dad2813704525" /><Relationship Type="http://schemas.openxmlformats.org/officeDocument/2006/relationships/image" Target="/ppt/media/image.png" Id="R2f667fae4e8e4914" /><Relationship Type="http://schemas.openxmlformats.org/officeDocument/2006/relationships/notesSlide" Target="/ppt/notesSlides/notesSlide4.xml" Id="R8a27e7389c9d45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4934f186b4546" /><Relationship Type="http://schemas.openxmlformats.org/officeDocument/2006/relationships/image" Target="/ppt/media/image2.png" Id="R92ba3bf765d948e8" /><Relationship Type="http://schemas.openxmlformats.org/officeDocument/2006/relationships/image" Target="/ppt/media/image3.png" Id="R8a6c0b0dd02846fa" /><Relationship Type="http://schemas.openxmlformats.org/officeDocument/2006/relationships/image" Target="/ppt/media/image4.png" Id="R234a88e1b33547eb" /><Relationship Type="http://schemas.openxmlformats.org/officeDocument/2006/relationships/notesSlide" Target="/ppt/notesSlides/notesSlide5.xml" Id="R60167a7c734048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2927e76b54a16" /><Relationship Type="http://schemas.openxmlformats.org/officeDocument/2006/relationships/image" Target="/ppt/media/image5.png" Id="Rf716ffcb6e0247e9" /><Relationship Type="http://schemas.openxmlformats.org/officeDocument/2006/relationships/image" Target="/ppt/media/image6.png" Id="Re8d929e35af544f3" /><Relationship Type="http://schemas.openxmlformats.org/officeDocument/2006/relationships/image" Target="/ppt/media/image7.png" Id="R16b0d3017486467f" /><Relationship Type="http://schemas.openxmlformats.org/officeDocument/2006/relationships/notesSlide" Target="/ppt/notesSlides/notesSlide6.xml" Id="R3a7f565d937c49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a62834f5040fc" /><Relationship Type="http://schemas.openxmlformats.org/officeDocument/2006/relationships/notesSlide" Target="/ppt/notesSlides/notesSlide7.xml" Id="Ra9ad377635c841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e556bdf0f4cb1" /><Relationship Type="http://schemas.openxmlformats.org/officeDocument/2006/relationships/image" Target="/ppt/media/image8.png" Id="Rb8ee6a1614c64060" /><Relationship Type="http://schemas.openxmlformats.org/officeDocument/2006/relationships/notesSlide" Target="/ppt/notesSlides/notesSlide8.xml" Id="R145e9cbd766f48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b48a9d6fa44fd" /><Relationship Type="http://schemas.openxmlformats.org/officeDocument/2006/relationships/notesSlide" Target="/ppt/notesSlides/notesSlide9.xml" Id="Ra8ad4a8762b441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9928952054549" /><Relationship Type="http://schemas.openxmlformats.org/officeDocument/2006/relationships/notesSlide" Target="/ppt/notesSlides/notesSlide10.xml" Id="R76436f25c2a34b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53997d39b4d69" /><Relationship Type="http://schemas.openxmlformats.org/officeDocument/2006/relationships/notesSlide" Target="/ppt/notesSlides/notesSlide11.xml" Id="Rb20d74a9908444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E4B07-57B7-4BAC-8630-869787EF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4F6"/>
                </a:solidFill>
              </a:defRPr>
            </a:pPr>
            <a:r>
              <a:rPr sz="1275" b="1">
                <a:solidFill>
                  <a:srgbClr val="7654F6"/>
                </a:solidFill>
              </a:rPr>
              <a:t>GOAI 无界应用 · Boundless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A5A8D-5733-4B59-B774-A111ABE8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8171D"/>
                </a:solidFill>
              </a:defRPr>
            </a:pPr>
            <a:r>
              <a:rPr sz="4800" b="1">
                <a:solidFill>
                  <a:srgbClr val="18171D"/>
                </a:solidFill>
              </a:rPr>
              <a:t>报警之后，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8171D"/>
                </a:solidFill>
              </a:defRPr>
            </a:pPr>
            <a:r>
              <a:rPr sz="4800" b="1">
                <a:solidFill>
                  <a:srgbClr val="18171D"/>
                </a:solidFill>
              </a:rPr>
              <a:t>责任不能断。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696E4-49FB-44BD-A08B-1A4154C2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F6B78"/>
                </a:solidFill>
              </a:defRPr>
            </a:pPr>
            <a:r>
              <a:rPr sz="1725" b="0">
                <a:solidFill>
                  <a:srgbClr val="6F6B78"/>
                </a:solidFill>
              </a:rPr>
              <a:t>FireOps AI · 工业消防设备运维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268CD-831F-4C1B-8745-C832E2F5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181100"/>
            <a:ext cx="3238500" cy="3943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DED6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329A1-5B9E-4CD5-BCEA-0558A03D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654F6"/>
                </a:solidFill>
              </a:defRPr>
            </a:pPr>
            <a:r>
              <a:rPr sz="1500" b="1">
                <a:solidFill>
                  <a:srgbClr val="7654F6"/>
                </a:solidFill>
              </a:rPr>
              <a:t>同一个事件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B38D8-14D0-4C21-B360-4307E5FC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171D"/>
                </a:solidFill>
              </a:defRPr>
            </a:pPr>
            <a:r>
              <a:rPr sz="1650" b="0">
                <a:solidFill>
                  <a:srgbClr val="18171D"/>
                </a:solidFill>
              </a:rPr>
              <a:t>信号定位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B9AD5-E089-40A9-9E1A-BD06B8C7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171D"/>
                </a:solidFill>
              </a:defRPr>
            </a:pPr>
            <a:r>
              <a:rPr sz="1650" b="1">
                <a:solidFill>
                  <a:srgbClr val="18171D"/>
                </a:solidFill>
              </a:rPr>
              <a:t>人工核实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26F83-7C44-4E11-9793-DBC50D4B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171D"/>
                </a:solidFill>
              </a:defRPr>
            </a:pPr>
            <a:r>
              <a:rPr sz="1650" b="0">
                <a:solidFill>
                  <a:srgbClr val="18171D"/>
                </a:solidFill>
              </a:rPr>
              <a:t>责任派单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4D185-2497-4E4D-9126-A4C9881C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171D"/>
                </a:solidFill>
              </a:defRPr>
            </a:pPr>
            <a:r>
              <a:rPr sz="1650" b="0">
                <a:solidFill>
                  <a:srgbClr val="18171D"/>
                </a:solidFill>
              </a:rPr>
              <a:t>整改复查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47125-E06A-41A2-9343-9743BDA6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171D"/>
                </a:solidFill>
              </a:defRPr>
            </a:pPr>
            <a:r>
              <a:rPr sz="1650" b="0">
                <a:solidFill>
                  <a:srgbClr val="18171D"/>
                </a:solidFill>
              </a:rPr>
              <a:t>证据归档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A876E-5DC3-48FC-855B-F245CEC1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171D"/>
                </a:solidFill>
              </a:defRPr>
            </a:pPr>
            <a:r>
              <a:rPr sz="1650" b="1">
                <a:solidFill>
                  <a:srgbClr val="18171D"/>
                </a:solidFill>
              </a:rPr>
              <a:t>让 AI 进入现场，但不越过现场的人。</a:t>
            </a:r>
          </a:p>
        </p:txBody>
      </p:sp>
    </p:spTree>
    <p:extLst>
      <p:ext uri="{BB962C8B-B14F-4D97-AF65-F5344CB8AC3E}">
        <p14:creationId xmlns:p14="http://schemas.microsoft.com/office/powerpoint/2010/main" val="486353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E540E-ADE1-4032-8D2E-71908B78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171D"/>
                </a:solidFill>
              </a:defRPr>
            </a:pPr>
            <a:r>
              <a:rPr sz="1275" b="1">
                <a:solidFill>
                  <a:srgbClr val="18171D"/>
                </a:solidFill>
              </a:rPr>
              <a:t>FireOps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52AC7-46AE-4012-B442-3A8346C9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B78"/>
                </a:solidFill>
              </a:defRPr>
            </a:pPr>
            <a:r>
              <a:rPr sz="1050" b="0">
                <a:solidFill>
                  <a:srgbClr val="6F6B78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E6E0A-24DC-4139-88C4-67EA1D31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0D8DC-B93D-4DC4-AB55-C7D173A0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43137"/>
                </a:solidFill>
              </a:defRPr>
            </a:pPr>
            <a:r>
              <a:rPr sz="1275" b="1">
                <a:solidFill>
                  <a:srgbClr val="E43137"/>
                </a:solidFill>
              </a:rPr>
              <a:t>现场问题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4919D-D842-41C3-8C11-6E12E3D5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171D"/>
                </a:solidFill>
              </a:defRPr>
            </a:pPr>
            <a:r>
              <a:rPr sz="3450" b="1">
                <a:solidFill>
                  <a:srgbClr val="18171D"/>
                </a:solidFill>
              </a:rPr>
              <a:t>报警并不难收到，难的是后面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A910F-1B18-4E19-A0ED-29EEDDEE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F6FCA-6FD0-4D4A-A545-A9362B0B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8171D"/>
                </a:solidFill>
              </a:defRPr>
            </a:pPr>
            <a:r>
              <a:rPr sz="1875" b="1">
                <a:solidFill>
                  <a:srgbClr val="18171D"/>
                </a:solidFill>
              </a:rPr>
              <a:t>主机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F1648-DF8D-4C54-A468-20A8CD5A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B78"/>
                </a:solidFill>
              </a:defRPr>
            </a:pPr>
            <a:r>
              <a:rPr sz="1275" b="0">
                <a:solidFill>
                  <a:srgbClr val="6F6B78"/>
                </a:solidFill>
              </a:rPr>
              <a:t>只有设备信号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66BB5-E118-461C-8E38-ED4868D0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CA776-1D84-44A1-8361-1613C258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8171D"/>
                </a:solidFill>
              </a:defRPr>
            </a:pPr>
            <a:r>
              <a:rPr sz="1875" b="1">
                <a:solidFill>
                  <a:srgbClr val="18171D"/>
                </a:solidFill>
              </a:rPr>
              <a:t>点位表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46351-90EE-4613-A9C3-E8D473CA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052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B78"/>
                </a:solidFill>
              </a:defRPr>
            </a:pPr>
            <a:r>
              <a:rPr sz="1275" b="0">
                <a:solidFill>
                  <a:srgbClr val="6F6B78"/>
                </a:solidFill>
              </a:rPr>
              <a:t>位置靠人工核对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E1159-1854-4863-938C-7BFF3948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1B7E5-1DD3-45F6-AB7C-CD6C0C47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8171D"/>
                </a:solidFill>
              </a:defRPr>
            </a:pPr>
            <a:r>
              <a:rPr sz="1875" b="1">
                <a:solidFill>
                  <a:srgbClr val="18171D"/>
                </a:solidFill>
              </a:rPr>
              <a:t>群消息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577E7-6C4B-490F-9258-FD9E14B8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B78"/>
                </a:solidFill>
              </a:defRPr>
            </a:pPr>
            <a:r>
              <a:rPr sz="1275" b="0">
                <a:solidFill>
                  <a:srgbClr val="6F6B78"/>
                </a:solidFill>
              </a:rPr>
              <a:t>责任容易丢在交接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4EEAE-2BE6-4425-9C0D-E3EAD349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D9D0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A9FA1-EAB1-47B8-921F-8AFCA95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8171D"/>
                </a:solidFill>
              </a:defRPr>
            </a:pPr>
            <a:r>
              <a:rPr sz="1875" b="1">
                <a:solidFill>
                  <a:srgbClr val="18171D"/>
                </a:solidFill>
              </a:rPr>
              <a:t>纸质手册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F7E97-57D6-4CFE-809C-7D12B350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B78"/>
                </a:solidFill>
              </a:defRPr>
            </a:pPr>
            <a:r>
              <a:rPr sz="1275" b="0">
                <a:solidFill>
                  <a:srgbClr val="6F6B78"/>
                </a:solidFill>
              </a:rPr>
              <a:t>依据查找慢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56219-DF1E-4FA3-9760-7B0A578A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E43137"/>
                </a:solidFill>
              </a:defRPr>
            </a:pPr>
            <a:r>
              <a:rPr sz="2400" b="1">
                <a:solidFill>
                  <a:srgbClr val="E43137"/>
                </a:solidFill>
              </a:rPr>
              <a:t>信号收到了，不等于事情闭环。</a:t>
            </a:r>
          </a:p>
        </p:txBody>
      </p:sp>
    </p:spTree>
    <p:extLst>
      <p:ext uri="{BB962C8B-B14F-4D97-AF65-F5344CB8AC3E}">
        <p14:creationId xmlns:p14="http://schemas.microsoft.com/office/powerpoint/2010/main" val="20347059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5FBC0-9AE4-450E-A3F2-EC355418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171D"/>
                </a:solidFill>
              </a:defRPr>
            </a:pPr>
            <a:r>
              <a:rPr sz="1275" b="1">
                <a:solidFill>
                  <a:srgbClr val="18171D"/>
                </a:solidFill>
              </a:rPr>
              <a:t>FireOps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9CB7D-3F32-4C53-AFFB-0E5A8A64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B78"/>
                </a:solidFill>
              </a:defRPr>
            </a:pPr>
            <a:r>
              <a:rPr sz="1050" b="0">
                <a:solidFill>
                  <a:srgbClr val="6F6B78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203BB-CB77-47F3-8BF3-C1EB21B8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A89FE-2DEC-4CDA-B967-E156E649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4F6"/>
                </a:solidFill>
              </a:defRPr>
            </a:pPr>
            <a:r>
              <a:rPr sz="1275" b="1">
                <a:solidFill>
                  <a:srgbClr val="7654F6"/>
                </a:solidFill>
              </a:rPr>
              <a:t>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BB896-6872-4B19-B88D-D6E6D2F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171D"/>
                </a:solidFill>
              </a:defRPr>
            </a:pPr>
            <a:r>
              <a:rPr sz="3450" b="1">
                <a:solidFill>
                  <a:srgbClr val="18171D"/>
                </a:solidFill>
              </a:rPr>
              <a:t>一条主线跑到底，只在三处停下来等人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9B764-FE3F-45F8-BF90-96D2C5D8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B78"/>
                </a:solidFill>
              </a:defRPr>
            </a:pPr>
            <a:r>
              <a:rPr sz="1500" b="0">
                <a:solidFill>
                  <a:srgbClr val="6F6B78"/>
                </a:solidFill>
              </a:rPr>
              <a:t>AI 自动解析、检索、起草并模拟班组反馈；核实、派单、归档由人确认。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CCCEF-B008-4E2D-B95C-680451F8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9431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46F6E-8950-4CDB-9D9E-377E5A64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6B78"/>
                </a:solidFill>
              </a:defRPr>
            </a:pPr>
            <a:r>
              <a:rPr sz="1200" b="1">
                <a:solidFill>
                  <a:srgbClr val="6F6B7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3F740-1353-4BF8-83E8-993751B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71D"/>
                </a:solidFill>
              </a:defRPr>
            </a:pPr>
            <a:r>
              <a:rPr sz="1425" b="1">
                <a:solidFill>
                  <a:srgbClr val="18171D"/>
                </a:solidFill>
              </a:rPr>
              <a:t>AI 研判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A9EDC-84BF-4166-BDE8-3CC78518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7338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F6B78"/>
                </a:solidFill>
              </a:defRPr>
            </a:pPr>
            <a:r>
              <a:rPr sz="1650" b="1">
                <a:solidFill>
                  <a:srgbClr val="6F6B7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9A6FC-54B7-4647-8183-A39EA5FA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19431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56241-C8AD-4D53-B026-1FA8EFB0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004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6B78"/>
                </a:solidFill>
              </a:defRPr>
            </a:pPr>
            <a:r>
              <a:rPr sz="1200" b="1">
                <a:solidFill>
                  <a:srgbClr val="6F6B7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36314-579F-433E-8A8F-F8DFEC8E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24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71D"/>
                </a:solidFill>
              </a:defRPr>
            </a:pPr>
            <a:r>
              <a:rPr sz="1425" b="1">
                <a:solidFill>
                  <a:srgbClr val="18171D"/>
                </a:solidFill>
              </a:rPr>
              <a:t>人工核实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E7CFB-6A58-4C90-8EF3-7D166795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338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F6B78"/>
                </a:solidFill>
              </a:defRPr>
            </a:pPr>
            <a:r>
              <a:rPr sz="1650" b="1">
                <a:solidFill>
                  <a:srgbClr val="6F6B7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7955E-CC30-4DB3-BB92-87AC970B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29000"/>
            <a:ext cx="19431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B9A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B603F-AA3E-43D1-A319-F690D2A0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004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654F6"/>
                </a:solidFill>
              </a:defRPr>
            </a:pPr>
            <a:r>
              <a:rPr sz="1200" b="1">
                <a:solidFill>
                  <a:srgbClr val="7654F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05212-400E-4639-A77D-AE0E1E54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24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71D"/>
                </a:solidFill>
              </a:defRPr>
            </a:pPr>
            <a:r>
              <a:rPr sz="1425" b="1">
                <a:solidFill>
                  <a:srgbClr val="18171D"/>
                </a:solidFill>
              </a:rPr>
              <a:t>人工派单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5B454-E792-4380-8D9B-4D5D0BD4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338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F6B78"/>
                </a:solidFill>
              </a:defRPr>
            </a:pPr>
            <a:r>
              <a:rPr sz="1650" b="1">
                <a:solidFill>
                  <a:srgbClr val="6F6B7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B314E-82FD-494D-BF2D-CB44DC5A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19431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75AF2-6AD2-4C8E-8733-E6D05B06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004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6B78"/>
                </a:solidFill>
              </a:defRPr>
            </a:pPr>
            <a:r>
              <a:rPr sz="1200" b="1">
                <a:solidFill>
                  <a:srgbClr val="6F6B7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D7E2D-ABB1-4D7E-AE2D-6FC4A8A3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24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71D"/>
                </a:solidFill>
              </a:defRPr>
            </a:pPr>
            <a:r>
              <a:rPr sz="1425" b="1">
                <a:solidFill>
                  <a:srgbClr val="18171D"/>
                </a:solidFill>
              </a:rPr>
              <a:t>模拟处置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EF3E4-C304-42A3-AFE2-4D1667A8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7338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F6B78"/>
                </a:solidFill>
              </a:defRPr>
            </a:pPr>
            <a:r>
              <a:rPr sz="1650" b="1">
                <a:solidFill>
                  <a:srgbClr val="6F6B78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969C7-A9E7-417E-9003-85A83C7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19431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93EBB8-03AB-4478-A398-62B8FF10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6B78"/>
                </a:solidFill>
              </a:defRPr>
            </a:pPr>
            <a:r>
              <a:rPr sz="1200" b="1">
                <a:solidFill>
                  <a:srgbClr val="6F6B78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DFEDF6-F58D-4D02-B33C-37D242C0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24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71D"/>
                </a:solidFill>
              </a:defRPr>
            </a:pPr>
            <a:r>
              <a:rPr sz="1425" b="1">
                <a:solidFill>
                  <a:srgbClr val="18171D"/>
                </a:solidFill>
              </a:rPr>
              <a:t>人工归档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A9C2B8-D46D-4399-8498-73A50C84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8171D"/>
                </a:solidFill>
              </a:defRPr>
            </a:pPr>
            <a:r>
              <a:rPr sz="1950" b="1">
                <a:solidFill>
                  <a:srgbClr val="18171D"/>
                </a:solidFill>
              </a:rPr>
              <a:t>同一个 event_id 串起证据、人工决定、班组反馈和归档时间线。</a:t>
            </a:r>
          </a:p>
        </p:txBody>
      </p:sp>
    </p:spTree>
    <p:extLst>
      <p:ext uri="{BB962C8B-B14F-4D97-AF65-F5344CB8AC3E}">
        <p14:creationId xmlns:p14="http://schemas.microsoft.com/office/powerpoint/2010/main" val="1807902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46A3C-C689-4A39-8E48-61F38016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171D"/>
                </a:solidFill>
              </a:defRPr>
            </a:pPr>
            <a:r>
              <a:rPr sz="1275" b="1">
                <a:solidFill>
                  <a:srgbClr val="18171D"/>
                </a:solidFill>
              </a:rPr>
              <a:t>FireOps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3BFB1-B500-437F-B182-8D25CCD7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B78"/>
                </a:solidFill>
              </a:defRPr>
            </a:pPr>
            <a:r>
              <a:rPr sz="1050" b="0">
                <a:solidFill>
                  <a:srgbClr val="6F6B78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772EC-4F3C-4403-AE4F-9BF06303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5BD59-EBB5-42C3-A103-A35B025A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4F6"/>
                </a:solidFill>
              </a:defRPr>
            </a:pPr>
            <a:r>
              <a:rPr sz="1275" b="1">
                <a:solidFill>
                  <a:srgbClr val="7654F6"/>
                </a:solidFill>
              </a:rPr>
              <a:t>产品现场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5209D-6899-49A1-91BB-EB6E8240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171D"/>
                </a:solidFill>
              </a:defRPr>
            </a:pPr>
            <a:r>
              <a:rPr sz="3450" b="1">
                <a:solidFill>
                  <a:srgbClr val="18171D"/>
                </a:solidFill>
              </a:rPr>
              <a:t>先把位置和证据放到人面前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E7947-4EC3-4D2B-9F6A-BAD72317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07442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67fae4e8e4914"/>
          <a:stretch xmlns:a="http://schemas.openxmlformats.org/drawingml/2006/main"/>
        </p:blipFill>
        <p:spPr>
          <a:xfrm xmlns:a="http://schemas.openxmlformats.org/drawingml/2006/main">
            <a:off x="3430488" y="2343150"/>
            <a:ext cx="5331023" cy="37909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9EB7E-8631-44F4-B82A-99532E98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4F6"/>
                </a:solidFill>
              </a:defRPr>
            </a:pPr>
            <a:r>
              <a:rPr sz="1275" b="1">
                <a:solidFill>
                  <a:srgbClr val="7654F6"/>
                </a:solidFill>
              </a:rPr>
              <a:t>平面定位 · 证据摘要 · 人工核实闸</a:t>
            </a:r>
          </a:p>
        </p:txBody>
      </p:sp>
    </p:spTree>
    <p:extLst>
      <p:ext uri="{BB962C8B-B14F-4D97-AF65-F5344CB8AC3E}">
        <p14:creationId xmlns:p14="http://schemas.microsoft.com/office/powerpoint/2010/main" val="2068027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AFB8E-848D-46B1-AA1E-FA66319D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171D"/>
                </a:solidFill>
              </a:defRPr>
            </a:pPr>
            <a:r>
              <a:rPr sz="1275" b="1">
                <a:solidFill>
                  <a:srgbClr val="18171D"/>
                </a:solidFill>
              </a:rPr>
              <a:t>FireOps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AA5CE-B463-4BFF-A75F-4C04235E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B78"/>
                </a:solidFill>
              </a:defRPr>
            </a:pPr>
            <a:r>
              <a:rPr sz="1050" b="0">
                <a:solidFill>
                  <a:srgbClr val="6F6B78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88F27-3E00-46B2-AC17-FDAC7809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A095C-EBF5-48F3-B271-F7390818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4F6"/>
                </a:solidFill>
              </a:defRPr>
            </a:pPr>
            <a:r>
              <a:rPr sz="1275" b="1">
                <a:solidFill>
                  <a:srgbClr val="7654F6"/>
                </a:solidFill>
              </a:rPr>
              <a:t>评委引导演示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E47ED-DA1E-4B29-8852-168730C2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171D"/>
                </a:solidFill>
              </a:defRPr>
            </a:pPr>
            <a:r>
              <a:rPr sz="3450" b="1">
                <a:solidFill>
                  <a:srgbClr val="18171D"/>
                </a:solidFill>
              </a:rPr>
              <a:t>90 秒看完：AI 自动跑，人只在三处确认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EDA2C-BB3D-41CD-B8F4-EDB33888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60045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a3bf765d948e8"/>
          <a:srcRect xmlns:a="http://schemas.openxmlformats.org/drawingml/2006/main" l="0" t="10449" r="0" b="104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877145"/>
            <a:ext cx="3486150" cy="1960959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E374D-E6D0-43FB-9CE3-F620D758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09850"/>
            <a:ext cx="360045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c0b0dd02846fa"/>
          <a:srcRect xmlns:a="http://schemas.openxmlformats.org/drawingml/2006/main" l="0" t="10449" r="0" b="104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2877145"/>
            <a:ext cx="3486150" cy="1960959"/>
          </a:xfrm>
          <a:prstGeom xmlns:a="http://schemas.openxmlformats.org/drawingml/2006/main" prst="round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48E6A-1AF6-4082-B95C-7AF010F2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360045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a88e1b33547eb"/>
          <a:srcRect xmlns:a="http://schemas.openxmlformats.org/drawingml/2006/main" l="0" t="10449" r="0" b="104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2877145"/>
            <a:ext cx="3486150" cy="1960959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D5CF4-8396-4529-9D76-8EEC346E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6B78"/>
                </a:solidFill>
              </a:defRPr>
            </a:pPr>
            <a:r>
              <a:rPr sz="1200" b="1">
                <a:solidFill>
                  <a:srgbClr val="6F6B78"/>
                </a:solidFill>
              </a:rPr>
              <a:t>一键开始 · AI 自动补齐证据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52AAA-6D52-4863-B371-EBD182FB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1970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6B78"/>
                </a:solidFill>
              </a:defRPr>
            </a:pPr>
            <a:r>
              <a:rPr sz="1200" b="0">
                <a:solidFill>
                  <a:srgbClr val="6F6B78"/>
                </a:solidFill>
              </a:rPr>
              <a:t>人工闸门 2/3 · 确认派单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8D177-2AE2-4EAC-AE24-A1B63547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1970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6B78"/>
                </a:solidFill>
              </a:defRPr>
            </a:pPr>
            <a:r>
              <a:rPr sz="1200" b="0">
                <a:solidFill>
                  <a:srgbClr val="6F6B78"/>
                </a:solidFill>
              </a:rPr>
              <a:t>人工闸门 3/3 · 核验归档</a:t>
            </a:r>
          </a:p>
        </p:txBody>
      </p:sp>
    </p:spTree>
    <p:extLst>
      <p:ext uri="{BB962C8B-B14F-4D97-AF65-F5344CB8AC3E}">
        <p14:creationId xmlns:p14="http://schemas.microsoft.com/office/powerpoint/2010/main" val="930220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24706-A207-468A-91FD-96B2F66A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171D"/>
                </a:solidFill>
              </a:defRPr>
            </a:pPr>
            <a:r>
              <a:rPr sz="1275" b="1">
                <a:solidFill>
                  <a:srgbClr val="18171D"/>
                </a:solidFill>
              </a:rPr>
              <a:t>FireOps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A80D6-DFF0-41B4-B12A-E7FBD23C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B78"/>
                </a:solidFill>
              </a:defRPr>
            </a:pPr>
            <a:r>
              <a:rPr sz="1050" b="0">
                <a:solidFill>
                  <a:srgbClr val="6F6B78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B3510-1BAF-41AB-BC3B-0C19E8EF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E0B20-9473-4A5F-9959-AB735FE0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4F6"/>
                </a:solidFill>
              </a:defRPr>
            </a:pPr>
            <a:r>
              <a:rPr sz="1275" b="1">
                <a:solidFill>
                  <a:srgbClr val="7654F6"/>
                </a:solidFill>
              </a:rPr>
              <a:t>核心闭环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95514-F090-4B87-B5D0-02DEA47C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171D"/>
                </a:solidFill>
              </a:defRPr>
            </a:pPr>
            <a:r>
              <a:rPr sz="3450" b="1">
                <a:solidFill>
                  <a:srgbClr val="18171D"/>
                </a:solidFill>
              </a:rPr>
              <a:t>维修和巡查，都要到复查才结束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5FD8B-F25E-4CF8-9A55-08EC60F9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34671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6ffcb6e0247e9"/>
          <a:stretch xmlns:a="http://schemas.openxmlformats.org/drawingml/2006/main"/>
        </p:blipFill>
        <p:spPr>
          <a:xfrm xmlns:a="http://schemas.openxmlformats.org/drawingml/2006/main">
            <a:off x="609600" y="2933700"/>
            <a:ext cx="3352800" cy="18859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A0548-4C45-4803-999B-C6571065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34671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929e35af544f3"/>
          <a:stretch xmlns:a="http://schemas.openxmlformats.org/drawingml/2006/main"/>
        </p:blipFill>
        <p:spPr>
          <a:xfrm xmlns:a="http://schemas.openxmlformats.org/drawingml/2006/main">
            <a:off x="4419600" y="2933700"/>
            <a:ext cx="3352800" cy="18859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13F8F-A69F-489D-9290-0A173B17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4671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0d3017486467f"/>
          <a:stretch xmlns:a="http://schemas.openxmlformats.org/drawingml/2006/main"/>
        </p:blipFill>
        <p:spPr>
          <a:xfrm xmlns:a="http://schemas.openxmlformats.org/drawingml/2006/main">
            <a:off x="8229600" y="2933700"/>
            <a:ext cx="3352800" cy="18859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2DBFB-D177-4EB9-ACF1-A5635FE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171D"/>
                </a:solidFill>
              </a:defRPr>
            </a:pPr>
            <a:r>
              <a:rPr sz="1500" b="1">
                <a:solidFill>
                  <a:srgbClr val="18171D"/>
                </a:solidFill>
              </a:rPr>
              <a:t>维修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0F626-AA04-4DCF-9EAC-62604C92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5780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171D"/>
                </a:solidFill>
              </a:defRPr>
            </a:pPr>
            <a:r>
              <a:rPr sz="1500" b="1">
                <a:solidFill>
                  <a:srgbClr val="18171D"/>
                </a:solidFill>
              </a:rPr>
              <a:t>巡查草稿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7AF1C-95AD-42C6-B37C-5FA10349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171D"/>
                </a:solidFill>
              </a:defRPr>
            </a:pPr>
            <a:r>
              <a:rPr sz="1500" b="1">
                <a:solidFill>
                  <a:srgbClr val="18171D"/>
                </a:solidFill>
              </a:rPr>
              <a:t>复查关闭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25302-EDF5-41F9-A66D-A08D944F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E43137"/>
                </a:solidFill>
              </a:defRPr>
            </a:pPr>
            <a:r>
              <a:rPr sz="1950" b="1">
                <a:solidFill>
                  <a:srgbClr val="E43137"/>
                </a:solidFill>
              </a:rPr>
              <a:t>工单 done ≠ 隐患 closed</a:t>
            </a:r>
          </a:p>
        </p:txBody>
      </p:sp>
    </p:spTree>
    <p:extLst>
      <p:ext uri="{BB962C8B-B14F-4D97-AF65-F5344CB8AC3E}">
        <p14:creationId xmlns:p14="http://schemas.microsoft.com/office/powerpoint/2010/main" val="897604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FCC98-6E87-4392-9D1A-F3E0886C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171D"/>
                </a:solidFill>
              </a:defRPr>
            </a:pPr>
            <a:r>
              <a:rPr sz="1275" b="1">
                <a:solidFill>
                  <a:srgbClr val="18171D"/>
                </a:solidFill>
              </a:rPr>
              <a:t>FireOps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D864B-0ECE-4D26-A485-F6864181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B78"/>
                </a:solidFill>
              </a:defRPr>
            </a:pPr>
            <a:r>
              <a:rPr sz="1050" b="0">
                <a:solidFill>
                  <a:srgbClr val="6F6B78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F9B6F-A05C-4841-ADC8-A51D0E81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85F97-D1CC-403D-9403-CCA35789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4F6"/>
                </a:solidFill>
              </a:defRPr>
            </a:pPr>
            <a:r>
              <a:rPr sz="1275" b="1">
                <a:solidFill>
                  <a:srgbClr val="7654F6"/>
                </a:solidFill>
              </a:rPr>
              <a:t>AI 的真实作用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6A41A-8BEB-400D-92BD-441710E0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171D"/>
                </a:solidFill>
              </a:defRPr>
            </a:pPr>
            <a:r>
              <a:rPr sz="3450" b="1">
                <a:solidFill>
                  <a:srgbClr val="18171D"/>
                </a:solidFill>
              </a:rPr>
              <a:t>不是聊天入口，是证据整理器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DB4DD-8264-405B-9103-7F42DD46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105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EA247-EC50-45C6-884B-4DF53ACE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171D"/>
                </a:solidFill>
              </a:defRPr>
            </a:pPr>
            <a:r>
              <a:rPr sz="1575" b="1">
                <a:solidFill>
                  <a:srgbClr val="18171D"/>
                </a:solidFill>
              </a:rPr>
              <a:t>读点位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8A84D-BE61-473A-B699-A3FA0E14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670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B78"/>
                </a:solidFill>
              </a:defRPr>
            </a:pPr>
            <a:r>
              <a:rPr sz="1275" b="0">
                <a:solidFill>
                  <a:srgbClr val="6F6B78"/>
                </a:solidFill>
              </a:rPr>
              <a:t>控制器 / 回路 / 地址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33046-3178-4664-841A-BB07E606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76550"/>
            <a:ext cx="5105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0F3E0-9F6B-49B1-ACA7-51B10528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171D"/>
                </a:solidFill>
              </a:defRPr>
            </a:pPr>
            <a:r>
              <a:rPr sz="1575" b="1">
                <a:solidFill>
                  <a:srgbClr val="18171D"/>
                </a:solidFill>
              </a:rPr>
              <a:t>查手册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28220-A80F-4D51-8572-6F0CBD39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B78"/>
                </a:solidFill>
              </a:defRPr>
            </a:pPr>
            <a:r>
              <a:rPr sz="1275" b="0">
                <a:solidFill>
                  <a:srgbClr val="6F6B78"/>
                </a:solidFill>
              </a:rPr>
              <a:t>制度条目与设备说明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EDD03-7FFC-42FA-A7C8-42E4E776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105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76D19-5895-4D46-8E79-8B866996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171D"/>
                </a:solidFill>
              </a:defRPr>
            </a:pPr>
            <a:r>
              <a:rPr sz="1575" b="1">
                <a:solidFill>
                  <a:srgbClr val="18171D"/>
                </a:solidFill>
              </a:rPr>
              <a:t>补上下文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A9FFB-0FC0-4BC8-A4E1-4EEE64B5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815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B78"/>
                </a:solidFill>
              </a:defRPr>
            </a:pPr>
            <a:r>
              <a:rPr sz="1275" b="0">
                <a:solidFill>
                  <a:srgbClr val="6F6B78"/>
                </a:solidFill>
              </a:rPr>
              <a:t>维保、历史事件、场地包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5E4F3-F42A-4DB3-80B9-90B45F37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91000"/>
            <a:ext cx="5105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C8BA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C6C4B-1008-421D-8F27-080FB24F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62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654F6"/>
                </a:solidFill>
              </a:defRPr>
            </a:pPr>
            <a:r>
              <a:rPr sz="1575" b="1">
                <a:solidFill>
                  <a:srgbClr val="7654F6"/>
                </a:solidFill>
              </a:rPr>
              <a:t>出草稿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5A389-02A6-4099-8A5E-2555044F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815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B78"/>
                </a:solidFill>
              </a:defRPr>
            </a:pPr>
            <a:r>
              <a:rPr sz="1275" b="0">
                <a:solidFill>
                  <a:srgbClr val="6F6B78"/>
                </a:solidFill>
              </a:rPr>
              <a:t>建议、工具轨迹、岗位简报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5AE11-E218-49CF-ADB1-0066C29F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43137"/>
                </a:solidFill>
              </a:defRPr>
            </a:pPr>
            <a:r>
              <a:rPr sz="1875" b="1">
                <a:solidFill>
                  <a:srgbClr val="E43137"/>
                </a:solidFill>
              </a:rPr>
              <a:t>证据不足：列出缺项，不建工单。</a:t>
            </a:r>
          </a:p>
        </p:txBody>
      </p:sp>
    </p:spTree>
    <p:extLst>
      <p:ext uri="{BB962C8B-B14F-4D97-AF65-F5344CB8AC3E}">
        <p14:creationId xmlns:p14="http://schemas.microsoft.com/office/powerpoint/2010/main" val="306706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75C38-9229-496B-BF2E-976BFBF6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171D"/>
                </a:solidFill>
              </a:defRPr>
            </a:pPr>
            <a:r>
              <a:rPr sz="1275" b="1">
                <a:solidFill>
                  <a:srgbClr val="18171D"/>
                </a:solidFill>
              </a:rPr>
              <a:t>FireOps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301F7-0CD3-4586-899A-BA757438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B78"/>
                </a:solidFill>
              </a:defRPr>
            </a:pPr>
            <a:r>
              <a:rPr sz="1050" b="0">
                <a:solidFill>
                  <a:srgbClr val="6F6B78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E622E-2287-4B6D-B9F8-D068E42A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0C430-3358-48C5-907B-B3426A6D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4F6"/>
                </a:solidFill>
              </a:defRPr>
            </a:pPr>
            <a:r>
              <a:rPr sz="1275" b="1">
                <a:solidFill>
                  <a:srgbClr val="7654F6"/>
                </a:solidFill>
              </a:rPr>
              <a:t>可验收产出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0C664-170E-4F6F-AC1C-6943F2DD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171D"/>
                </a:solidFill>
              </a:defRPr>
            </a:pPr>
            <a:r>
              <a:rPr sz="3450" b="1">
                <a:solidFill>
                  <a:srgbClr val="18171D"/>
                </a:solidFill>
              </a:rPr>
              <a:t>最后留下的，是一条证据链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A0F12-128E-4877-9455-D4EEAD1F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5067300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e6a1614c64060"/>
          <a:stretch xmlns:a="http://schemas.openxmlformats.org/drawingml/2006/main"/>
        </p:blipFill>
        <p:spPr>
          <a:xfrm xmlns:a="http://schemas.openxmlformats.org/drawingml/2006/main">
            <a:off x="6438900" y="2559844"/>
            <a:ext cx="4953000" cy="2786063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B45E7-3709-474E-A582-CC094199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171D"/>
                </a:solidFill>
              </a:defRPr>
            </a:pPr>
            <a:r>
              <a:rPr sz="1500" b="1">
                <a:solidFill>
                  <a:srgbClr val="18171D"/>
                </a:solidFill>
              </a:rPr>
              <a:t>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2EAE7-F9CA-4670-917B-8A7190DA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2415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原始信号与人工核实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C3678-FA52-46C8-B880-0C6A2F09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171D"/>
                </a:solidFill>
              </a:defRPr>
            </a:pPr>
            <a:r>
              <a:rPr sz="1500" b="1">
                <a:solidFill>
                  <a:srgbClr val="18171D"/>
                </a:solidFill>
              </a:rPr>
              <a:t>工单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AD181-37E1-4C70-BD0F-5EEFBE05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0995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责任班组与状态迁移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ED0C7-9C08-46B7-A49A-937A2E10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171D"/>
                </a:solidFill>
              </a:defRPr>
            </a:pPr>
            <a:r>
              <a:rPr sz="1500" b="1">
                <a:solidFill>
                  <a:srgbClr val="18171D"/>
                </a:solidFill>
              </a:rPr>
              <a:t>隐患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E7AF0-D417-4CFF-BE17-035D4344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9575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整改证据与复查结论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72C52-3E92-4503-8A56-6342FEC1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654F6"/>
                </a:solidFill>
              </a:defRPr>
            </a:pPr>
            <a:r>
              <a:rPr sz="1500" b="1">
                <a:solidFill>
                  <a:srgbClr val="7654F6"/>
                </a:solidFill>
              </a:rPr>
              <a:t>审计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1CC7A-B573-49DA-ADB4-226C0F49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8155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工具轨迹、引用与时间戳</a:t>
            </a:r>
          </a:p>
        </p:txBody>
      </p:sp>
    </p:spTree>
    <p:extLst>
      <p:ext uri="{BB962C8B-B14F-4D97-AF65-F5344CB8AC3E}">
        <p14:creationId xmlns:p14="http://schemas.microsoft.com/office/powerpoint/2010/main" val="1586029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D340E-8294-4B19-99DD-0018C13F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171D"/>
                </a:solidFill>
              </a:defRPr>
            </a:pPr>
            <a:r>
              <a:rPr sz="1275" b="1">
                <a:solidFill>
                  <a:srgbClr val="18171D"/>
                </a:solidFill>
              </a:rPr>
              <a:t>FireOps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886E2-75CB-4E1B-8B98-17221FB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B78"/>
                </a:solidFill>
              </a:defRPr>
            </a:pPr>
            <a:r>
              <a:rPr sz="1050" b="0">
                <a:solidFill>
                  <a:srgbClr val="6F6B78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3BA69-2F27-4BF9-B2A0-7F282936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6E134-80F3-4A78-AFA8-33D8E069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4F6"/>
                </a:solidFill>
              </a:defRPr>
            </a:pPr>
            <a:r>
              <a:rPr sz="1275" b="1">
                <a:solidFill>
                  <a:srgbClr val="7654F6"/>
                </a:solidFill>
              </a:rPr>
              <a:t>工程实现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05B41-0F6F-4A49-8735-385B86BA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171D"/>
                </a:solidFill>
              </a:defRPr>
            </a:pPr>
            <a:r>
              <a:rPr sz="3450" b="1">
                <a:solidFill>
                  <a:srgbClr val="18171D"/>
                </a:solidFill>
              </a:rPr>
              <a:t>可运行、可回放、可替换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A19B6-2902-46B4-8632-9B2760B4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514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832C1-98D2-4979-8060-203A584E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171D"/>
                </a:solidFill>
              </a:defRPr>
            </a:pPr>
            <a:r>
              <a:rPr sz="1650" b="1">
                <a:solidFill>
                  <a:srgbClr val="18171D"/>
                </a:solidFill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E37B9-1577-487C-8833-A0C95A88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Modbus 仿真帧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点位 / 维保 / 图片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07B3A-BBC9-43D3-BFB5-B1C8FF5B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2514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C8BA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57CF8-174C-47BD-B620-794C5370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05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654F6"/>
                </a:solidFill>
              </a:defRPr>
            </a:pPr>
            <a:r>
              <a:rPr sz="1650" b="1">
                <a:solidFill>
                  <a:srgbClr val="7654F6"/>
                </a:solidFill>
              </a:rPr>
              <a:t>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C879B-5CA2-4CF3-AC7B-172FCFD8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任务计划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只读工具与草稿工具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44FC3-78A4-454D-81B4-8E7DA1E2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514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2F59C-1DA3-4C79-B936-2ED6D74A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171D"/>
                </a:solidFill>
              </a:defRPr>
            </a:pPr>
            <a:r>
              <a:rPr sz="1650" b="1">
                <a:solidFill>
                  <a:srgbClr val="18171D"/>
                </a:solidFill>
              </a:rPr>
              <a:t>工作流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3847E-5818-4466-90AC-3CB1F76D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事件 / 工单 / 隐患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状态机与人工闸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66A9C-2BB4-4DEF-9AE8-47C37D86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2514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CE0BC-1B6D-4E98-90BA-9FD4BF2A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171D"/>
                </a:solidFill>
              </a:defRPr>
            </a:pPr>
            <a:r>
              <a:rPr sz="1650" b="1">
                <a:solidFill>
                  <a:srgbClr val="18171D"/>
                </a:solidFill>
              </a:rPr>
              <a:t>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37CA2-532A-4DA2-BF5D-DB5DE15C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岗位简报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F6B78"/>
                </a:solidFill>
              </a:defRPr>
            </a:pPr>
            <a:r>
              <a:rPr sz="1350" b="0">
                <a:solidFill>
                  <a:srgbClr val="6F6B78"/>
                </a:solidFill>
              </a:rPr>
              <a:t>证据引用与审计包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A7F9F-142E-4162-A283-BF021C8F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171D"/>
                </a:solidFill>
              </a:defRPr>
            </a:pPr>
            <a:r>
              <a:rPr sz="1650" b="1">
                <a:solidFill>
                  <a:srgbClr val="18171D"/>
                </a:solidFill>
              </a:rPr>
              <a:t>Scenario 离线可复现 · Live 兼容 OpenAI 接口 · 数据均为合成演示数据</a:t>
            </a:r>
          </a:p>
        </p:txBody>
      </p:sp>
    </p:spTree>
    <p:extLst>
      <p:ext uri="{BB962C8B-B14F-4D97-AF65-F5344CB8AC3E}">
        <p14:creationId xmlns:p14="http://schemas.microsoft.com/office/powerpoint/2010/main" val="1013838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AAAAE-31C2-4C0B-856E-51FFC725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171D"/>
                </a:solidFill>
              </a:defRPr>
            </a:pPr>
            <a:r>
              <a:rPr sz="1275" b="1">
                <a:solidFill>
                  <a:srgbClr val="18171D"/>
                </a:solidFill>
              </a:rPr>
              <a:t>FireOps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C4182-1118-4C20-A67E-0D101315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6B78"/>
                </a:solidFill>
              </a:defRPr>
            </a:pPr>
            <a:r>
              <a:rPr sz="1050" b="0">
                <a:solidFill>
                  <a:srgbClr val="6F6B78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3F29B-7B75-4AFF-89A2-133543DC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7B991-8271-487D-A9EB-801A8B63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4F6"/>
                </a:solidFill>
              </a:defRPr>
            </a:pPr>
            <a:r>
              <a:rPr sz="1275" b="1">
                <a:solidFill>
                  <a:srgbClr val="7654F6"/>
                </a:solidFill>
              </a:rPr>
              <a:t>安全与开放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AF583-C8C4-4A92-A98E-4782AAD2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171D"/>
                </a:solidFill>
              </a:defRPr>
            </a:pPr>
            <a:r>
              <a:rPr sz="3450" b="1">
                <a:solidFill>
                  <a:srgbClr val="18171D"/>
                </a:solidFill>
              </a:rPr>
              <a:t>AI 能做什么，也明确不能做什么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2F2E9-C37F-4EE6-9BB1-A7DEAC4D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244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CEC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1DA5E-C93C-477E-AA09-AE4768B0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654F6"/>
                </a:solidFill>
              </a:defRPr>
            </a:pPr>
            <a:r>
              <a:rPr sz="1800" b="1">
                <a:solidFill>
                  <a:srgbClr val="7654F6"/>
                </a:solidFill>
              </a:rPr>
              <a:t>可以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B499B-A32A-4FD0-9C63-48AC6049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171D"/>
                </a:solidFill>
              </a:defRPr>
            </a:pPr>
            <a:r>
              <a:rPr sz="1425" b="0">
                <a:solidFill>
                  <a:srgbClr val="18171D"/>
                </a:solidFill>
              </a:rPr>
              <a:t>查资料 · 补上下文 · 起草建议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171D"/>
                </a:solidFill>
              </a:defRPr>
            </a:pPr>
            <a:r>
              <a:rPr sz="1425" b="0">
                <a:solidFill>
                  <a:srgbClr val="18171D"/>
                </a:solidFill>
              </a:rPr>
              <a:t>生成岗位简报 · 给出证据引用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300F7-35F8-4D67-826C-693CDE53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55054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9525">
            <a:solidFill>
              <a:srgbClr val="EFB5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014A1-5C6D-47AC-AF4F-4363404D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43137"/>
                </a:solidFill>
              </a:defRPr>
            </a:pPr>
            <a:r>
              <a:rPr sz="1800" b="1">
                <a:solidFill>
                  <a:srgbClr val="E43137"/>
                </a:solidFill>
              </a:rPr>
              <a:t>不可以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4C96C-6DD3-4596-8D24-03BF2216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171D"/>
                </a:solidFill>
              </a:defRPr>
            </a:pPr>
            <a:r>
              <a:rPr sz="1425" b="0">
                <a:solidFill>
                  <a:srgbClr val="18171D"/>
                </a:solidFill>
              </a:rPr>
              <a:t>不上控 · 不自动灭火 · 不自动拨打 119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171D"/>
                </a:solidFill>
              </a:defRPr>
            </a:pPr>
            <a:r>
              <a:rPr sz="1425" b="0">
                <a:solidFill>
                  <a:srgbClr val="18171D"/>
                </a:solidFill>
              </a:rPr>
              <a:t>不替人确认高风险状态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668C2-762A-4D37-8A23-9DF33C25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171D"/>
                </a:solidFill>
              </a:defRPr>
            </a:pPr>
            <a:r>
              <a:rPr sz="2025" b="1">
                <a:solidFill>
                  <a:srgbClr val="18171D"/>
                </a:solidFill>
              </a:rPr>
              <a:t>MIT 开源 · 合成数据 · 可导出审计包</a:t>
            </a:r>
          </a:p>
        </p:txBody>
      </p:sp>
    </p:spTree>
    <p:extLst>
      <p:ext uri="{BB962C8B-B14F-4D97-AF65-F5344CB8AC3E}">
        <p14:creationId xmlns:p14="http://schemas.microsoft.com/office/powerpoint/2010/main" val="11281854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88DFE-2938-4C1C-A6D8-457C44BF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4F6"/>
                </a:solidFill>
              </a:defRPr>
            </a:pPr>
            <a:r>
              <a:rPr sz="1275" b="1">
                <a:solidFill>
                  <a:srgbClr val="7654F6"/>
                </a:solidFill>
              </a:rPr>
              <a:t>FireOps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D1DF3-9D07-4A95-B645-ABDB057A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286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8171D"/>
                </a:solidFill>
              </a:defRPr>
            </a:pPr>
            <a:r>
              <a:rPr sz="4050" b="1">
                <a:solidFill>
                  <a:srgbClr val="18171D"/>
                </a:solidFill>
              </a:rPr>
              <a:t>报警之后，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8171D"/>
                </a:solidFill>
              </a:defRPr>
            </a:pPr>
            <a:r>
              <a:rPr sz="4050" b="1">
                <a:solidFill>
                  <a:srgbClr val="18171D"/>
                </a:solidFill>
              </a:rPr>
              <a:t>让责任继续往前走。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08F8F-5122-4F0A-9248-890C29FB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F6B78"/>
                </a:solidFill>
              </a:defRPr>
            </a:pPr>
            <a:r>
              <a:rPr sz="1425" b="1">
                <a:solidFill>
                  <a:srgbClr val="6F6B78"/>
                </a:solidFill>
              </a:rPr>
              <a:t>目前已完成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EF74B-F180-4CB7-8A90-62E92515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171D"/>
                </a:solidFill>
              </a:defRPr>
            </a:pPr>
            <a:r>
              <a:rPr sz="1425" b="0">
                <a:solidFill>
                  <a:srgbClr val="18171D"/>
                </a:solidFill>
              </a:rPr>
              <a:t>• 三个人工闸门的一键演示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04AAD-18CD-4B84-9083-1E03714B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171D"/>
                </a:solidFill>
              </a:defRPr>
            </a:pPr>
            <a:r>
              <a:rPr sz="1425" b="0">
                <a:solidFill>
                  <a:srgbClr val="18171D"/>
                </a:solidFill>
              </a:rPr>
              <a:t>• 90 秒新版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6F3EA-7BE0-4033-959D-1E33473A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171D"/>
                </a:solidFill>
              </a:defRPr>
            </a:pPr>
            <a:r>
              <a:rPr sz="1425" b="0">
                <a:solidFill>
                  <a:srgbClr val="18171D"/>
                </a:solidFill>
              </a:rPr>
              <a:t>• PPT / PDF / 运行指南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DCE44-E031-4049-82B7-001231A8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171D"/>
                </a:solidFill>
              </a:defRPr>
            </a:pPr>
            <a:r>
              <a:rPr sz="1425" b="0">
                <a:solidFill>
                  <a:srgbClr val="18171D"/>
                </a:solidFill>
              </a:rPr>
              <a:t>• 测试与审计证据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1BAF2-5DC1-4E4A-974B-C8FAE35C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30530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D5C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B5B2A-D18E-43C9-AAB6-9820D7B4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66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654F6"/>
                </a:solidFill>
              </a:defRPr>
            </a:pPr>
            <a:r>
              <a:rPr sz="1425" b="1">
                <a:solidFill>
                  <a:srgbClr val="7654F6"/>
                </a:solidFill>
              </a:rPr>
              <a:t>下一步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21B4B-C028-4AEC-A4E3-01040A30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574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171D"/>
                </a:solidFill>
              </a:defRPr>
            </a:pPr>
            <a:r>
              <a:rPr sz="2100" b="1">
                <a:solidFill>
                  <a:srgbClr val="18171D"/>
                </a:solidFill>
              </a:rPr>
              <a:t>接入真实设备样本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8171D"/>
                </a:solidFill>
              </a:defRPr>
            </a:pPr>
            <a:r>
              <a:rPr sz="2100" b="1">
                <a:solidFill>
                  <a:srgbClr val="18171D"/>
                </a:solidFill>
              </a:rPr>
              <a:t>验证真实班组流程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8171D"/>
                </a:solidFill>
              </a:defRPr>
            </a:pPr>
            <a:r>
              <a:rPr sz="2100" b="1">
                <a:solidFill>
                  <a:srgbClr val="18171D"/>
                </a:solidFill>
              </a:rPr>
              <a:t>补齐生产鉴权与多租户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22210-440E-4C5D-A550-2BAB5BED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171D"/>
                </a:solidFill>
              </a:defRPr>
            </a:pPr>
            <a:r>
              <a:rPr sz="1650" b="1">
                <a:solidFill>
                  <a:srgbClr val="18171D"/>
                </a:solidFill>
              </a:rPr>
              <a:t>让 AI 进入消防现场，但不越过现场的人。</a:t>
            </a:r>
          </a:p>
        </p:txBody>
      </p:sp>
    </p:spTree>
    <p:extLst>
      <p:ext uri="{BB962C8B-B14F-4D97-AF65-F5344CB8AC3E}">
        <p14:creationId xmlns:p14="http://schemas.microsoft.com/office/powerpoint/2010/main" val="1371517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2026-08-15T02:47:26.7990000Z</dcterms:created>
  <dcterms:modified xsi:type="dcterms:W3CDTF">2026-08-15T02:47:26.7990000Z</dcterms:modified>
</coreProperties>
</file>